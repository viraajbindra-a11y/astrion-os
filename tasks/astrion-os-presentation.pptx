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So I've been building something kind of big and I want to show you what it is. It's called Astrion OS. It's an operating system — like Windows or macOS — but it's built from scratch to work WITH AI, not just have AI bolted on. I'll explain what that means. It's okay if you don't know what an operating system is, I'll cover that too. Just stop me if anything is confusing.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really fast: an operating system, or 'OS,' is the software that makes a computer actually usable. When you open your laptop and see a desktop with icons and a clock — that's the OS. Windows is an OS. macOS is an OS. Without one, your laptop is just a bunch of chips that don't know what to do. That's the thing I'm building. From scratch. Most people never build one because it's really hard. I wanted to see if I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it looks like right now. It has 52 apps — a calculator, notes, a code editor, games, a music player, a web browser I built myself, a terminal, everything. The desktop is written in C, which is a really low-level programming language — that means it talks to the computer's hardware directly, not through a web browser. You can run it three ways: in your browser as a demo, as a desktop app on Mac or Windows, or as a real operating system that boots off a USB stick. If you have time: show the running OS on your screen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here's the big idea — and if you only remember one thing, remember this. Imagine a house that can think. You walk in and say 'I want to bake a cake,' and the house rearranges itself into a kitchen. When you're done, it's a living room again. It makes the rooms it needs, when it needs them. That's what a 'thinking operating system' is. You don't click through apps — you tell it what you WANT, and it figures it out. That's what Astrion is going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 most people, when they say they're 'building an OS,' they mean they're making a website that LOOKS like an OS. I did that too, at first. But I wanted it to be real. So I wrote the desktop shell in C — that's the same language macOS is written in. It's over two thousand lines of C code. And I built 52 apps on top of it. And I made it bootable — you can actually put it on a USB stick and turn any laptop into an Astrion machine. That part is done. Today's demo is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 most people skip in presentations: I looked at my own plan really hard and admitted it wasn't good enough. I was building a nice-looking macOS clone and just putting Claude in a chat box on the side. That's not an 'AI-native OS' — that's just a regular OS with an AI feature. And I found three big problems. First, 51 apps is too many — it locks me into old ways of thinking. Second, I said Astrion would 'learn,' but it wasn't actually learning anything, it was just keeping a diary. Third, and most important, I had no plan for safety. As AI gets crazy smart, you need ways to keep mistakes from being permanent. I had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rewrote the whole plan around three big ideas. First: the Intent Kernel. Instead of clicking through apps, you tell Astrion what you want — 'make me a birthday card for mom' — and it figures out the steps. Second: two brains. A little brain that's always on, handles the easy stuff instantly, lives on your computer. And a big brain that only wakes up for hard problems, like Claude. As AI gets smarter, more stuff moves into the little brain and Astrion gets faster without changing shape. And third — this is the important one — receipts, undo, and asking before big stuff. The AI has to prove what it did. Dangerous actions happen in a practice universe you can undo. And it asks you before doing anything big, so YOU stay the one making decisions. That last part matters a lot because if AI does all your thinking for you, your brain goes to sleep. I don't want that for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this is the serious slide. AI is getting crazy powerful, crazy fast. Everyone's worried about robots taking over. I actually don't think that's the biggest risk. I think the biggest risk is that humans get LAZY — we let AI make all our decisions, and slowly we forget how to decide things ourselves. That's what Astrion is designed to stop. The 'it asks before doing big stuff' part isn't annoying pop-ups — it's more like a friend who says 'hey, did you think about this?' It keeps you sharp. I want to make an OS that helps people stay smart as AI gets smart. That's why I'm doing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Nine milestones. M0 is the native desktop shell — done. M1 is the Intent Kernel — done. M2 is next: replacing files and folders with a 'thinking graph' so Astrion can actually understand what's connected to what. Then the two brains, then code with receipts, then undo, then smart questions, then skill sharing, and finally M8 — the dream — Astrion can safely improve its own code. Each milestone has a demo I can show you. If I get stuck, I'll come back and ask for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here's the slide where I need you. I know none of you code. That's fine. Coding is my job. But there are EIGHT jobs you can do that don't need any code at all. Testers just install Astrion on their laptop and tell me what breaks. Designers draw wallpapers or icons. UX reviewers tell me what's confusing. Writers help me write descriptions and the user guide. Ideas people tell me what apps they wish existed. Namers come up with names for new features. Hype people just share progress on their Instagram or wherever. Bug hunters find weird stuff and screenshot it. Pick ONE that sounds fun. That's all I'm asking. Even one of these makes Astrion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live demo slide. Before the meeting, have the ISO running in a VM or show the GitHub release page. Click around. Don't rehearse it — they can see if it's real. If something breaks live, that's actually GOOD — it makes it feel real and you can say 'this is exactly why I need testers.' Talking points during demo: 'This is a real operating system. I'm not showing you a website.' 'Every app in this dock, I wrote or helped write.' 'When I press Ctrl+Space…' — then show Spotlight. 'The browser you're seeing is my own browser, not Chrome, not Safari.' 'I'm going to mess something up on purpose so you can see it's real.'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Any questions? Don't be embarrassed — the whole point of the thinking-house metaphor is that normal people should be able to get this. If something didn't land, tell me and I'll fix the slide for next time. And remember: pick one job from slide 10 and I'll send you what you need to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07AFF"/>
          </a:solidFill>
          <a:ln w="12700">
            <a:solidFill>
              <a:srgbClr val="007AFF"/>
            </a:solidFill>
            <a:prstDash val="solid"/>
          </a:ln>
        </p:spPr>
      </p:sp>
      <p:sp>
        <p:nvSpPr>
          <p:cNvPr id="3" name="Text 1"/>
          <p:cNvSpPr/>
          <p:nvPr/>
        </p:nvSpPr>
        <p:spPr>
          <a:xfrm>
            <a:off x="822960" y="1645920"/>
            <a:ext cx="10515600" cy="1645920"/>
          </a:xfrm>
          <a:prstGeom prst="rect">
            <a:avLst/>
          </a:prstGeom>
          <a:noFill/>
          <a:ln/>
        </p:spPr>
        <p:txBody>
          <a:bodyPr wrap="square" lIns="0" tIns="0" rIns="0" bIns="0" rtlCol="0" anchor="ctr"/>
          <a:lstStyle/>
          <a:p>
            <a:pPr indent="0" marL="0">
              <a:buNone/>
            </a:pPr>
            <a:r>
              <a:rPr lang="en-US" sz="14000" b="1" spc="600" kern="0" dirty="0">
                <a:solidFill>
                  <a:srgbClr val="FFFFFF"/>
                </a:solidFill>
                <a:latin typeface="Helvetica" pitchFamily="34" charset="0"/>
                <a:ea typeface="Helvetica" pitchFamily="34" charset="-122"/>
                <a:cs typeface="Helvetica" pitchFamily="34" charset="-120"/>
              </a:rPr>
              <a:t>ASTRION</a:t>
            </a:r>
            <a:endParaRPr lang="en-US" sz="14000" dirty="0"/>
          </a:p>
        </p:txBody>
      </p:sp>
      <p:sp>
        <p:nvSpPr>
          <p:cNvPr id="4" name="Text 2"/>
          <p:cNvSpPr/>
          <p:nvPr/>
        </p:nvSpPr>
        <p:spPr>
          <a:xfrm>
            <a:off x="822960" y="3017520"/>
            <a:ext cx="10515600" cy="1188720"/>
          </a:xfrm>
          <a:prstGeom prst="rect">
            <a:avLst/>
          </a:prstGeom>
          <a:noFill/>
          <a:ln/>
        </p:spPr>
        <p:txBody>
          <a:bodyPr wrap="square" lIns="0" tIns="0" rIns="0" bIns="0" rtlCol="0" anchor="ctr"/>
          <a:lstStyle/>
          <a:p>
            <a:pPr indent="0" marL="0">
              <a:buNone/>
            </a:pPr>
            <a:r>
              <a:rPr lang="en-US" sz="11000" b="1" spc="400" kern="0" dirty="0">
                <a:solidFill>
                  <a:srgbClr val="007AFF"/>
                </a:solidFill>
                <a:latin typeface="Helvetica" pitchFamily="34" charset="0"/>
                <a:ea typeface="Helvetica" pitchFamily="34" charset="-122"/>
                <a:cs typeface="Helvetica" pitchFamily="34" charset="-120"/>
              </a:rPr>
              <a:t>OS</a:t>
            </a:r>
            <a:endParaRPr lang="en-US" sz="11000" dirty="0"/>
          </a:p>
        </p:txBody>
      </p:sp>
      <p:sp>
        <p:nvSpPr>
          <p:cNvPr id="5" name="Text 3"/>
          <p:cNvSpPr/>
          <p:nvPr/>
        </p:nvSpPr>
        <p:spPr>
          <a:xfrm>
            <a:off x="822960" y="4434840"/>
            <a:ext cx="10515600" cy="548640"/>
          </a:xfrm>
          <a:prstGeom prst="rect">
            <a:avLst/>
          </a:prstGeom>
          <a:noFill/>
          <a:ln/>
        </p:spPr>
        <p:txBody>
          <a:bodyPr wrap="square" lIns="0" tIns="0" rIns="0" bIns="0" rtlCol="0" anchor="ctr"/>
          <a:lstStyle/>
          <a:p>
            <a:pPr indent="0" marL="0">
              <a:buNone/>
            </a:pPr>
            <a:r>
              <a:rPr lang="en-US" sz="3200" i="1" dirty="0">
                <a:solidFill>
                  <a:srgbClr val="B8B8D0"/>
                </a:solidFill>
                <a:latin typeface="Helvetica" pitchFamily="34" charset="0"/>
                <a:ea typeface="Helvetica" pitchFamily="34" charset="-122"/>
                <a:cs typeface="Helvetica" pitchFamily="34" charset="-120"/>
              </a:rPr>
              <a:t>An operating system that thinks.</a:t>
            </a:r>
            <a:endParaRPr lang="en-US" sz="3200" dirty="0"/>
          </a:p>
        </p:txBody>
      </p:sp>
      <p:sp>
        <p:nvSpPr>
          <p:cNvPr id="6" name="Text 4"/>
          <p:cNvSpPr/>
          <p:nvPr/>
        </p:nvSpPr>
        <p:spPr>
          <a:xfrm>
            <a:off x="822960" y="5212080"/>
            <a:ext cx="10515600" cy="457200"/>
          </a:xfrm>
          <a:prstGeom prst="rect">
            <a:avLst/>
          </a:prstGeom>
          <a:noFill/>
          <a:ln/>
        </p:spPr>
        <p:txBody>
          <a:bodyPr wrap="square" lIns="0" tIns="0" rIns="0" bIns="0" rtlCol="0" anchor="ctr"/>
          <a:lstStyle/>
          <a:p>
            <a:pPr indent="0" marL="0">
              <a:buNone/>
            </a:pPr>
            <a:r>
              <a:rPr lang="en-US" sz="2000" dirty="0">
                <a:solidFill>
                  <a:srgbClr val="6A6A8A"/>
                </a:solidFill>
                <a:latin typeface="Helvetica" pitchFamily="34" charset="0"/>
                <a:ea typeface="Helvetica" pitchFamily="34" charset="-122"/>
                <a:cs typeface="Helvetica" pitchFamily="34" charset="-120"/>
              </a:rPr>
              <a:t>Built by </a:t>
            </a:r>
            <a:pPr indent="0" marL="0">
              <a:buNone/>
            </a:pPr>
            <a:r>
              <a:rPr lang="en-US" sz="2000" b="1" dirty="0">
                <a:solidFill>
                  <a:srgbClr val="FFFFFF"/>
                </a:solidFill>
                <a:latin typeface="Helvetica" pitchFamily="34" charset="0"/>
                <a:ea typeface="Helvetica" pitchFamily="34" charset="-122"/>
                <a:cs typeface="Helvetica" pitchFamily="34" charset="-120"/>
              </a:rPr>
              <a:t>Viraaj Singh Bindra</a:t>
            </a:r>
            <a:endParaRPr lang="en-US" sz="2000" dirty="0"/>
          </a:p>
        </p:txBody>
      </p:sp>
      <p:sp>
        <p:nvSpPr>
          <p:cNvPr id="7" name="Shape 5"/>
          <p:cNvSpPr/>
          <p:nvPr/>
        </p:nvSpPr>
        <p:spPr>
          <a:xfrm>
            <a:off x="822960" y="5852160"/>
            <a:ext cx="1554480" cy="411480"/>
          </a:xfrm>
          <a:prstGeom prst="roundRect">
            <a:avLst>
              <a:gd name="adj" fmla="val 48889"/>
            </a:avLst>
          </a:prstGeom>
          <a:solidFill>
            <a:srgbClr val="14142B"/>
          </a:solidFill>
          <a:ln w="12700">
            <a:solidFill>
              <a:srgbClr val="8BE9FD"/>
            </a:solidFill>
            <a:prstDash val="solid"/>
          </a:ln>
        </p:spPr>
      </p:sp>
      <p:sp>
        <p:nvSpPr>
          <p:cNvPr id="8" name="Text 6"/>
          <p:cNvSpPr/>
          <p:nvPr/>
        </p:nvSpPr>
        <p:spPr>
          <a:xfrm>
            <a:off x="822960" y="5852160"/>
            <a:ext cx="1554480" cy="411480"/>
          </a:xfrm>
          <a:prstGeom prst="rect">
            <a:avLst/>
          </a:prstGeom>
          <a:noFill/>
          <a:ln/>
        </p:spPr>
        <p:txBody>
          <a:bodyPr wrap="square" lIns="0" tIns="0" rIns="0" bIns="0" rtlCol="0" anchor="ctr"/>
          <a:lstStyle/>
          <a:p>
            <a:pPr algn="ctr" indent="0" marL="0">
              <a:buNone/>
            </a:pPr>
            <a:r>
              <a:rPr lang="en-US" sz="1200" b="1" spc="200" kern="0" dirty="0">
                <a:solidFill>
                  <a:srgbClr val="8BE9FD"/>
                </a:solidFill>
                <a:latin typeface="Helvetica" pitchFamily="34" charset="0"/>
                <a:ea typeface="Helvetica" pitchFamily="34" charset="-122"/>
                <a:cs typeface="Helvetica" pitchFamily="34" charset="-120"/>
              </a:rPr>
              <a:t>BRAIN S1</a:t>
            </a:r>
            <a:endParaRPr lang="en-US" sz="1200" dirty="0"/>
          </a:p>
        </p:txBody>
      </p:sp>
      <p:sp>
        <p:nvSpPr>
          <p:cNvPr id="9" name="Shape 7"/>
          <p:cNvSpPr/>
          <p:nvPr/>
        </p:nvSpPr>
        <p:spPr>
          <a:xfrm>
            <a:off x="2514600" y="5852160"/>
            <a:ext cx="1554480" cy="411480"/>
          </a:xfrm>
          <a:prstGeom prst="roundRect">
            <a:avLst>
              <a:gd name="adj" fmla="val 48889"/>
            </a:avLst>
          </a:prstGeom>
          <a:solidFill>
            <a:srgbClr val="14142B"/>
          </a:solidFill>
          <a:ln w="12700">
            <a:solidFill>
              <a:srgbClr val="BD93F9"/>
            </a:solidFill>
            <a:prstDash val="solid"/>
          </a:ln>
        </p:spPr>
      </p:sp>
      <p:sp>
        <p:nvSpPr>
          <p:cNvPr id="10" name="Text 8"/>
          <p:cNvSpPr/>
          <p:nvPr/>
        </p:nvSpPr>
        <p:spPr>
          <a:xfrm>
            <a:off x="2514600" y="5852160"/>
            <a:ext cx="1554480" cy="411480"/>
          </a:xfrm>
          <a:prstGeom prst="rect">
            <a:avLst/>
          </a:prstGeom>
          <a:noFill/>
          <a:ln/>
        </p:spPr>
        <p:txBody>
          <a:bodyPr wrap="square" lIns="0" tIns="0" rIns="0" bIns="0" rtlCol="0" anchor="ctr"/>
          <a:lstStyle/>
          <a:p>
            <a:pPr algn="ctr" indent="0" marL="0">
              <a:buNone/>
            </a:pPr>
            <a:r>
              <a:rPr lang="en-US" sz="1200" b="1" spc="200" kern="0" dirty="0">
                <a:solidFill>
                  <a:srgbClr val="BD93F9"/>
                </a:solidFill>
                <a:latin typeface="Helvetica" pitchFamily="34" charset="0"/>
                <a:ea typeface="Helvetica" pitchFamily="34" charset="-122"/>
                <a:cs typeface="Helvetica" pitchFamily="34" charset="-120"/>
              </a:rPr>
              <a:t>BRAIN S2</a:t>
            </a:r>
            <a:endParaRPr lang="en-US" sz="1200" dirty="0"/>
          </a:p>
        </p:txBody>
      </p:sp>
      <p:sp>
        <p:nvSpPr>
          <p:cNvPr id="11" name="Shape 9"/>
          <p:cNvSpPr/>
          <p:nvPr/>
        </p:nvSpPr>
        <p:spPr>
          <a:xfrm>
            <a:off x="4206240" y="5852160"/>
            <a:ext cx="1828800" cy="411480"/>
          </a:xfrm>
          <a:prstGeom prst="roundRect">
            <a:avLst>
              <a:gd name="adj" fmla="val 48889"/>
            </a:avLst>
          </a:prstGeom>
          <a:solidFill>
            <a:srgbClr val="14142B"/>
          </a:solidFill>
          <a:ln w="12700">
            <a:solidFill>
              <a:srgbClr val="007AFF"/>
            </a:solidFill>
            <a:prstDash val="solid"/>
          </a:ln>
        </p:spPr>
      </p:sp>
      <p:sp>
        <p:nvSpPr>
          <p:cNvPr id="12" name="Text 10"/>
          <p:cNvSpPr/>
          <p:nvPr/>
        </p:nvSpPr>
        <p:spPr>
          <a:xfrm>
            <a:off x="4206240" y="5852160"/>
            <a:ext cx="1828800" cy="411480"/>
          </a:xfrm>
          <a:prstGeom prst="rect">
            <a:avLst/>
          </a:prstGeom>
          <a:noFill/>
          <a:ln/>
        </p:spPr>
        <p:txBody>
          <a:bodyPr wrap="square" lIns="0" tIns="0" rIns="0" bIns="0" rtlCol="0" anchor="ctr"/>
          <a:lstStyle/>
          <a:p>
            <a:pPr algn="ctr" indent="0" marL="0">
              <a:buNone/>
            </a:pPr>
            <a:r>
              <a:rPr lang="en-US" sz="1200" b="1" spc="200" kern="0" dirty="0">
                <a:solidFill>
                  <a:srgbClr val="007AFF"/>
                </a:solidFill>
                <a:latin typeface="Helvetica" pitchFamily="34" charset="0"/>
                <a:ea typeface="Helvetica" pitchFamily="34" charset="-122"/>
                <a:cs typeface="Helvetica" pitchFamily="34" charset="-120"/>
              </a:rPr>
              <a:t>INTENT KERNEL</a:t>
            </a:r>
            <a:endParaRPr lang="en-US" sz="1200" dirty="0"/>
          </a:p>
        </p:txBody>
      </p:sp>
      <p:sp>
        <p:nvSpPr>
          <p:cNvPr id="14" name="Shape 11"/>
          <p:cNvSpPr/>
          <p:nvPr/>
        </p:nvSpPr>
        <p:spPr>
          <a:xfrm>
            <a:off x="0" y="6537960"/>
            <a:ext cx="12161520" cy="320040"/>
          </a:xfrm>
          <a:prstGeom prst="rect">
            <a:avLst/>
          </a:prstGeom>
          <a:solidFill>
            <a:srgbClr val="14142B"/>
          </a:solidFill>
          <a:ln w="12700">
            <a:solidFill>
              <a:srgbClr val="14142B"/>
            </a:solidFill>
            <a:prstDash val="solid"/>
          </a:ln>
        </p:spPr>
      </p:sp>
      <p:sp>
        <p:nvSpPr>
          <p:cNvPr id="15" name="Text 12"/>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16" name="Text 13"/>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What's an Operating System?</a:t>
            </a:r>
            <a:endParaRPr lang="en-US" sz="3200" dirty="0"/>
          </a:p>
        </p:txBody>
      </p:sp>
      <p:sp>
        <p:nvSpPr>
          <p:cNvPr id="4" name="Text 2"/>
          <p:cNvSpPr/>
          <p:nvPr/>
        </p:nvSpPr>
        <p:spPr>
          <a:xfrm>
            <a:off x="685800" y="1371600"/>
            <a:ext cx="10789920" cy="640080"/>
          </a:xfrm>
          <a:prstGeom prst="rect">
            <a:avLst/>
          </a:prstGeom>
          <a:noFill/>
          <a:ln/>
        </p:spPr>
        <p:txBody>
          <a:bodyPr wrap="square" lIns="0" tIns="0" rIns="0" bIns="0" rtlCol="0" anchor="ctr"/>
          <a:lstStyle/>
          <a:p>
            <a:pPr indent="0" marL="0">
              <a:buNone/>
            </a:pPr>
            <a:r>
              <a:rPr lang="en-US" sz="2600" i="1" dirty="0">
                <a:solidFill>
                  <a:srgbClr val="B8B8D0"/>
                </a:solidFill>
                <a:latin typeface="Helvetica" pitchFamily="34" charset="0"/>
                <a:ea typeface="Helvetica" pitchFamily="34" charset="-122"/>
                <a:cs typeface="Helvetica" pitchFamily="34" charset="-120"/>
              </a:rPr>
              <a:t>An OS is the thing that makes your computer be a computer.</a:t>
            </a:r>
            <a:endParaRPr lang="en-US" sz="2600" dirty="0"/>
          </a:p>
        </p:txBody>
      </p:sp>
      <p:sp>
        <p:nvSpPr>
          <p:cNvPr id="5" name="Shape 3"/>
          <p:cNvSpPr/>
          <p:nvPr/>
        </p:nvSpPr>
        <p:spPr>
          <a:xfrm>
            <a:off x="685800" y="2286000"/>
            <a:ext cx="3291840" cy="2560320"/>
          </a:xfrm>
          <a:prstGeom prst="rect">
            <a:avLst/>
          </a:prstGeom>
          <a:solidFill>
            <a:srgbClr val="14142B"/>
          </a:solidFill>
          <a:ln w="12700">
            <a:solidFill>
              <a:srgbClr val="1C1C3A"/>
            </a:solidFill>
            <a:prstDash val="solid"/>
          </a:ln>
        </p:spPr>
      </p:sp>
      <p:sp>
        <p:nvSpPr>
          <p:cNvPr id="6" name="Text 4"/>
          <p:cNvSpPr/>
          <p:nvPr/>
        </p:nvSpPr>
        <p:spPr>
          <a:xfrm>
            <a:off x="685800" y="2468880"/>
            <a:ext cx="3291840" cy="1188720"/>
          </a:xfrm>
          <a:prstGeom prst="rect">
            <a:avLst/>
          </a:prstGeom>
          <a:noFill/>
          <a:ln/>
        </p:spPr>
        <p:txBody>
          <a:bodyPr wrap="square" lIns="0" tIns="0" rIns="0" bIns="0" rtlCol="0" anchor="ctr"/>
          <a:lstStyle/>
          <a:p>
            <a:pPr algn="ctr" indent="0" marL="0">
              <a:buNone/>
            </a:pPr>
            <a:r>
              <a:rPr lang="en-US" sz="7200" dirty="0">
                <a:solidFill>
                  <a:srgbClr val="007AFF"/>
                </a:solidFill>
                <a:latin typeface="Helvetica" pitchFamily="34" charset="0"/>
                <a:ea typeface="Helvetica" pitchFamily="34" charset="-122"/>
                <a:cs typeface="Helvetica" pitchFamily="34" charset="-120"/>
              </a:rPr>
              <a:t>⊞</a:t>
            </a:r>
            <a:endParaRPr lang="en-US" sz="7200" dirty="0"/>
          </a:p>
        </p:txBody>
      </p:sp>
      <p:sp>
        <p:nvSpPr>
          <p:cNvPr id="7" name="Text 5"/>
          <p:cNvSpPr/>
          <p:nvPr/>
        </p:nvSpPr>
        <p:spPr>
          <a:xfrm>
            <a:off x="685800" y="3657600"/>
            <a:ext cx="3291840" cy="457200"/>
          </a:xfrm>
          <a:prstGeom prst="rect">
            <a:avLst/>
          </a:prstGeom>
          <a:noFill/>
          <a:ln/>
        </p:spPr>
        <p:txBody>
          <a:bodyPr wrap="square" lIns="0" tIns="0" rIns="0" bIns="0" rtlCol="0" anchor="ctr"/>
          <a:lstStyle/>
          <a:p>
            <a:pPr algn="ctr" indent="0" marL="0">
              <a:buNone/>
            </a:pPr>
            <a:r>
              <a:rPr lang="en-US" sz="2200" b="1" spc="200" kern="0" dirty="0">
                <a:solidFill>
                  <a:srgbClr val="FFFFFF"/>
                </a:solidFill>
                <a:latin typeface="Helvetica" pitchFamily="34" charset="0"/>
                <a:ea typeface="Helvetica" pitchFamily="34" charset="-122"/>
                <a:cs typeface="Helvetica" pitchFamily="34" charset="-120"/>
              </a:rPr>
              <a:t>WINDOWS</a:t>
            </a:r>
            <a:endParaRPr lang="en-US" sz="2200" dirty="0"/>
          </a:p>
        </p:txBody>
      </p:sp>
      <p:sp>
        <p:nvSpPr>
          <p:cNvPr id="8" name="Text 6"/>
          <p:cNvSpPr/>
          <p:nvPr/>
        </p:nvSpPr>
        <p:spPr>
          <a:xfrm>
            <a:off x="685800" y="4114800"/>
            <a:ext cx="3291840" cy="365760"/>
          </a:xfrm>
          <a:prstGeom prst="rect">
            <a:avLst/>
          </a:prstGeom>
          <a:noFill/>
          <a:ln/>
        </p:spPr>
        <p:txBody>
          <a:bodyPr wrap="square" lIns="0" tIns="0" rIns="0" bIns="0" rtlCol="0" anchor="ctr"/>
          <a:lstStyle/>
          <a:p>
            <a:pPr algn="ctr" indent="0" marL="0">
              <a:buNone/>
            </a:pPr>
            <a:r>
              <a:rPr lang="en-US" sz="1400" dirty="0">
                <a:solidFill>
                  <a:srgbClr val="6A6A8A"/>
                </a:solidFill>
                <a:latin typeface="Helvetica" pitchFamily="34" charset="0"/>
                <a:ea typeface="Helvetica" pitchFamily="34" charset="-122"/>
                <a:cs typeface="Helvetica" pitchFamily="34" charset="-120"/>
              </a:rPr>
              <a:t>Microsoft</a:t>
            </a:r>
            <a:endParaRPr lang="en-US" sz="1400" dirty="0"/>
          </a:p>
        </p:txBody>
      </p:sp>
      <p:sp>
        <p:nvSpPr>
          <p:cNvPr id="9" name="Shape 7"/>
          <p:cNvSpPr/>
          <p:nvPr/>
        </p:nvSpPr>
        <p:spPr>
          <a:xfrm>
            <a:off x="4434840" y="2286000"/>
            <a:ext cx="3291840" cy="2560320"/>
          </a:xfrm>
          <a:prstGeom prst="rect">
            <a:avLst/>
          </a:prstGeom>
          <a:solidFill>
            <a:srgbClr val="14142B"/>
          </a:solidFill>
          <a:ln w="12700">
            <a:solidFill>
              <a:srgbClr val="1C1C3A"/>
            </a:solidFill>
            <a:prstDash val="solid"/>
          </a:ln>
        </p:spPr>
      </p:sp>
      <p:sp>
        <p:nvSpPr>
          <p:cNvPr id="10" name="Text 8"/>
          <p:cNvSpPr/>
          <p:nvPr/>
        </p:nvSpPr>
        <p:spPr>
          <a:xfrm>
            <a:off x="4434840" y="2468880"/>
            <a:ext cx="3291840" cy="1188720"/>
          </a:xfrm>
          <a:prstGeom prst="rect">
            <a:avLst/>
          </a:prstGeom>
          <a:noFill/>
          <a:ln/>
        </p:spPr>
        <p:txBody>
          <a:bodyPr wrap="square" lIns="0" tIns="0" rIns="0" bIns="0" rtlCol="0" anchor="ctr"/>
          <a:lstStyle/>
          <a:p>
            <a:pPr algn="ctr" indent="0" marL="0">
              <a:buNone/>
            </a:pPr>
            <a:endParaRPr lang="en-US" sz="7200" dirty="0"/>
          </a:p>
        </p:txBody>
      </p:sp>
      <p:sp>
        <p:nvSpPr>
          <p:cNvPr id="11" name="Text 9"/>
          <p:cNvSpPr/>
          <p:nvPr/>
        </p:nvSpPr>
        <p:spPr>
          <a:xfrm>
            <a:off x="4434840" y="3657600"/>
            <a:ext cx="3291840" cy="457200"/>
          </a:xfrm>
          <a:prstGeom prst="rect">
            <a:avLst/>
          </a:prstGeom>
          <a:noFill/>
          <a:ln/>
        </p:spPr>
        <p:txBody>
          <a:bodyPr wrap="square" lIns="0" tIns="0" rIns="0" bIns="0" rtlCol="0" anchor="ctr"/>
          <a:lstStyle/>
          <a:p>
            <a:pPr algn="ctr" indent="0" marL="0">
              <a:buNone/>
            </a:pPr>
            <a:r>
              <a:rPr lang="en-US" sz="2200" b="1" spc="200" kern="0" dirty="0">
                <a:solidFill>
                  <a:srgbClr val="FFFFFF"/>
                </a:solidFill>
                <a:latin typeface="Helvetica" pitchFamily="34" charset="0"/>
                <a:ea typeface="Helvetica" pitchFamily="34" charset="-122"/>
                <a:cs typeface="Helvetica" pitchFamily="34" charset="-120"/>
              </a:rPr>
              <a:t>MACOS</a:t>
            </a:r>
            <a:endParaRPr lang="en-US" sz="2200" dirty="0"/>
          </a:p>
        </p:txBody>
      </p:sp>
      <p:sp>
        <p:nvSpPr>
          <p:cNvPr id="12" name="Text 10"/>
          <p:cNvSpPr/>
          <p:nvPr/>
        </p:nvSpPr>
        <p:spPr>
          <a:xfrm>
            <a:off x="4434840" y="4114800"/>
            <a:ext cx="3291840" cy="365760"/>
          </a:xfrm>
          <a:prstGeom prst="rect">
            <a:avLst/>
          </a:prstGeom>
          <a:noFill/>
          <a:ln/>
        </p:spPr>
        <p:txBody>
          <a:bodyPr wrap="square" lIns="0" tIns="0" rIns="0" bIns="0" rtlCol="0" anchor="ctr"/>
          <a:lstStyle/>
          <a:p>
            <a:pPr algn="ctr" indent="0" marL="0">
              <a:buNone/>
            </a:pPr>
            <a:r>
              <a:rPr lang="en-US" sz="1400" dirty="0">
                <a:solidFill>
                  <a:srgbClr val="6A6A8A"/>
                </a:solidFill>
                <a:latin typeface="Helvetica" pitchFamily="34" charset="0"/>
                <a:ea typeface="Helvetica" pitchFamily="34" charset="-122"/>
                <a:cs typeface="Helvetica" pitchFamily="34" charset="-120"/>
              </a:rPr>
              <a:t>Apple</a:t>
            </a:r>
            <a:endParaRPr lang="en-US" sz="1400" dirty="0"/>
          </a:p>
        </p:txBody>
      </p:sp>
      <p:sp>
        <p:nvSpPr>
          <p:cNvPr id="13" name="Shape 11"/>
          <p:cNvSpPr/>
          <p:nvPr/>
        </p:nvSpPr>
        <p:spPr>
          <a:xfrm>
            <a:off x="8183880" y="2286000"/>
            <a:ext cx="3291840" cy="2560320"/>
          </a:xfrm>
          <a:prstGeom prst="rect">
            <a:avLst/>
          </a:prstGeom>
          <a:solidFill>
            <a:srgbClr val="14142B"/>
          </a:solidFill>
          <a:ln w="12700">
            <a:solidFill>
              <a:srgbClr val="1C1C3A"/>
            </a:solidFill>
            <a:prstDash val="solid"/>
          </a:ln>
        </p:spPr>
      </p:sp>
      <p:sp>
        <p:nvSpPr>
          <p:cNvPr id="14" name="Text 12"/>
          <p:cNvSpPr/>
          <p:nvPr/>
        </p:nvSpPr>
        <p:spPr>
          <a:xfrm>
            <a:off x="8183880" y="2468880"/>
            <a:ext cx="3291840" cy="1188720"/>
          </a:xfrm>
          <a:prstGeom prst="rect">
            <a:avLst/>
          </a:prstGeom>
          <a:noFill/>
          <a:ln/>
        </p:spPr>
        <p:txBody>
          <a:bodyPr wrap="square" lIns="0" tIns="0" rIns="0" bIns="0" rtlCol="0" anchor="ctr"/>
          <a:lstStyle/>
          <a:p>
            <a:pPr algn="ctr" indent="0" marL="0">
              <a:buNone/>
            </a:pPr>
            <a:r>
              <a:rPr lang="en-US" sz="7200" dirty="0">
                <a:solidFill>
                  <a:srgbClr val="007AFF"/>
                </a:solidFill>
                <a:latin typeface="Helvetica" pitchFamily="34" charset="0"/>
                <a:ea typeface="Helvetica" pitchFamily="34" charset="-122"/>
                <a:cs typeface="Helvetica" pitchFamily="34" charset="-120"/>
              </a:rPr>
              <a:t>🐧</a:t>
            </a:r>
            <a:endParaRPr lang="en-US" sz="7200" dirty="0"/>
          </a:p>
        </p:txBody>
      </p:sp>
      <p:sp>
        <p:nvSpPr>
          <p:cNvPr id="15" name="Text 13"/>
          <p:cNvSpPr/>
          <p:nvPr/>
        </p:nvSpPr>
        <p:spPr>
          <a:xfrm>
            <a:off x="8183880" y="3657600"/>
            <a:ext cx="3291840" cy="457200"/>
          </a:xfrm>
          <a:prstGeom prst="rect">
            <a:avLst/>
          </a:prstGeom>
          <a:noFill/>
          <a:ln/>
        </p:spPr>
        <p:txBody>
          <a:bodyPr wrap="square" lIns="0" tIns="0" rIns="0" bIns="0" rtlCol="0" anchor="ctr"/>
          <a:lstStyle/>
          <a:p>
            <a:pPr algn="ctr" indent="0" marL="0">
              <a:buNone/>
            </a:pPr>
            <a:r>
              <a:rPr lang="en-US" sz="2200" b="1" spc="200" kern="0" dirty="0">
                <a:solidFill>
                  <a:srgbClr val="FFFFFF"/>
                </a:solidFill>
                <a:latin typeface="Helvetica" pitchFamily="34" charset="0"/>
                <a:ea typeface="Helvetica" pitchFamily="34" charset="-122"/>
                <a:cs typeface="Helvetica" pitchFamily="34" charset="-120"/>
              </a:rPr>
              <a:t>LINUX</a:t>
            </a:r>
            <a:endParaRPr lang="en-US" sz="2200" dirty="0"/>
          </a:p>
        </p:txBody>
      </p:sp>
      <p:sp>
        <p:nvSpPr>
          <p:cNvPr id="16" name="Text 14"/>
          <p:cNvSpPr/>
          <p:nvPr/>
        </p:nvSpPr>
        <p:spPr>
          <a:xfrm>
            <a:off x="8183880" y="4114800"/>
            <a:ext cx="3291840" cy="365760"/>
          </a:xfrm>
          <a:prstGeom prst="rect">
            <a:avLst/>
          </a:prstGeom>
          <a:noFill/>
          <a:ln/>
        </p:spPr>
        <p:txBody>
          <a:bodyPr wrap="square" lIns="0" tIns="0" rIns="0" bIns="0" rtlCol="0" anchor="ctr"/>
          <a:lstStyle/>
          <a:p>
            <a:pPr algn="ctr" indent="0" marL="0">
              <a:buNone/>
            </a:pPr>
            <a:r>
              <a:rPr lang="en-US" sz="1400" dirty="0">
                <a:solidFill>
                  <a:srgbClr val="6A6A8A"/>
                </a:solidFill>
                <a:latin typeface="Helvetica" pitchFamily="34" charset="0"/>
                <a:ea typeface="Helvetica" pitchFamily="34" charset="-122"/>
                <a:cs typeface="Helvetica" pitchFamily="34" charset="-120"/>
              </a:rPr>
              <a:t>Open source</a:t>
            </a:r>
            <a:endParaRPr lang="en-US" sz="1400" dirty="0"/>
          </a:p>
        </p:txBody>
      </p:sp>
      <p:sp>
        <p:nvSpPr>
          <p:cNvPr id="17" name="Text 15"/>
          <p:cNvSpPr/>
          <p:nvPr/>
        </p:nvSpPr>
        <p:spPr>
          <a:xfrm>
            <a:off x="685800" y="5303520"/>
            <a:ext cx="10789920" cy="548640"/>
          </a:xfrm>
          <a:prstGeom prst="rect">
            <a:avLst/>
          </a:prstGeom>
          <a:noFill/>
          <a:ln/>
        </p:spPr>
        <p:txBody>
          <a:bodyPr wrap="square" lIns="0" tIns="0" rIns="0" bIns="0" rtlCol="0" anchor="ctr"/>
          <a:lstStyle/>
          <a:p>
            <a:pPr algn="ctr" indent="0" marL="0">
              <a:buNone/>
            </a:pPr>
            <a:r>
              <a:rPr lang="en-US" sz="2200" i="1" dirty="0">
                <a:solidFill>
                  <a:srgbClr val="8BE9FD"/>
                </a:solidFill>
                <a:latin typeface="Helvetica" pitchFamily="34" charset="0"/>
                <a:ea typeface="Helvetica" pitchFamily="34" charset="-122"/>
                <a:cs typeface="Helvetica" pitchFamily="34" charset="-120"/>
              </a:rPr>
              <a:t>Without one, your laptop is just a pile of chips.</a:t>
            </a:r>
            <a:endParaRPr lang="en-US" sz="2200" dirty="0"/>
          </a:p>
        </p:txBody>
      </p:sp>
      <p:sp>
        <p:nvSpPr>
          <p:cNvPr id="19" name="Shape 16"/>
          <p:cNvSpPr/>
          <p:nvPr/>
        </p:nvSpPr>
        <p:spPr>
          <a:xfrm>
            <a:off x="0" y="6537960"/>
            <a:ext cx="12161520" cy="320040"/>
          </a:xfrm>
          <a:prstGeom prst="rect">
            <a:avLst/>
          </a:prstGeom>
          <a:solidFill>
            <a:srgbClr val="14142B"/>
          </a:solidFill>
          <a:ln w="12700">
            <a:solidFill>
              <a:srgbClr val="14142B"/>
            </a:solidFill>
            <a:prstDash val="solid"/>
          </a:ln>
        </p:spPr>
      </p:sp>
      <p:sp>
        <p:nvSpPr>
          <p:cNvPr id="20" name="Text 17"/>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21" name="Text 18"/>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Meet Astrion OS</a:t>
            </a:r>
            <a:endParaRPr lang="en-US" sz="3200" dirty="0"/>
          </a:p>
        </p:txBody>
      </p:sp>
      <p:sp>
        <p:nvSpPr>
          <p:cNvPr id="4" name="Text 2"/>
          <p:cNvSpPr/>
          <p:nvPr/>
        </p:nvSpPr>
        <p:spPr>
          <a:xfrm>
            <a:off x="685800" y="1325880"/>
            <a:ext cx="6217920" cy="731520"/>
          </a:xfrm>
          <a:prstGeom prst="rect">
            <a:avLst/>
          </a:prstGeom>
          <a:noFill/>
          <a:ln/>
        </p:spPr>
        <p:txBody>
          <a:bodyPr wrap="square" lIns="0" tIns="0" rIns="0" bIns="0" rtlCol="0" anchor="ctr"/>
          <a:lstStyle/>
          <a:p>
            <a:pPr indent="0" marL="0">
              <a:buNone/>
            </a:pPr>
            <a:r>
              <a:rPr lang="en-US" sz="2200" b="1" dirty="0">
                <a:solidFill>
                  <a:srgbClr val="FFFFFF"/>
                </a:solidFill>
                <a:latin typeface="Helvetica" pitchFamily="34" charset="0"/>
                <a:ea typeface="Helvetica" pitchFamily="34" charset="-122"/>
                <a:cs typeface="Helvetica" pitchFamily="34" charset="-120"/>
              </a:rPr>
              <a:t>52 apps. Native C desktop shell. Runs as a real Linux OS.</a:t>
            </a:r>
            <a:endParaRPr lang="en-US" sz="2200" dirty="0"/>
          </a:p>
        </p:txBody>
      </p:sp>
      <p:sp>
        <p:nvSpPr>
          <p:cNvPr id="5" name="Text 3"/>
          <p:cNvSpPr/>
          <p:nvPr/>
        </p:nvSpPr>
        <p:spPr>
          <a:xfrm>
            <a:off x="822960" y="2377440"/>
            <a:ext cx="6035040" cy="2194560"/>
          </a:xfrm>
          <a:prstGeom prst="rect">
            <a:avLst/>
          </a:prstGeom>
          <a:noFill/>
          <a:ln/>
        </p:spPr>
        <p:txBody>
          <a:bodyPr wrap="square" lIns="0" tIns="0" rIns="0" bIns="0" rtlCol="0" anchor="ctr"/>
          <a:lstStyle/>
          <a:p>
            <a:pPr marL="342900" indent="-342900">
              <a:spcAft>
                <a:spcPts val="1000"/>
              </a:spcAft>
              <a:buSzPct val="100000"/>
              <a:buChar char="►"/>
            </a:pPr>
            <a:r>
              <a:rPr lang="en-US" sz="1800" dirty="0">
                <a:solidFill>
                  <a:srgbClr val="B8B8D0"/>
                </a:solidFill>
                <a:latin typeface="Helvetica" pitchFamily="34" charset="0"/>
                <a:ea typeface="Helvetica" pitchFamily="34" charset="-122"/>
                <a:cs typeface="Helvetica" pitchFamily="34" charset="-120"/>
              </a:rPr>
              <a:t>Works in a browser (demo mode)</a:t>
            </a:r>
            <a:endParaRPr lang="en-US" sz="1800" dirty="0"/>
          </a:p>
          <a:p>
            <a:pPr marL="342900" indent="-342900">
              <a:spcAft>
                <a:spcPts val="1000"/>
              </a:spcAft>
              <a:buSzPct val="100000"/>
              <a:buChar char="►"/>
            </a:pPr>
            <a:r>
              <a:rPr lang="en-US" sz="1800" dirty="0">
                <a:solidFill>
                  <a:srgbClr val="B8B8D0"/>
                </a:solidFill>
                <a:latin typeface="Helvetica" pitchFamily="34" charset="0"/>
                <a:ea typeface="Helvetica" pitchFamily="34" charset="-122"/>
                <a:cs typeface="Helvetica" pitchFamily="34" charset="-120"/>
              </a:rPr>
              <a:t>Works as a desktop app (Mac, Windows)</a:t>
            </a:r>
            <a:endParaRPr lang="en-US" sz="1800" dirty="0"/>
          </a:p>
          <a:p>
            <a:pPr marL="342900" indent="-342900">
              <a:spcAft>
                <a:spcPts val="1000"/>
              </a:spcAft>
              <a:buSzPct val="100000"/>
              <a:buChar char="►"/>
            </a:pPr>
            <a:r>
              <a:rPr lang="en-US" sz="1800" b="1" dirty="0">
                <a:solidFill>
                  <a:srgbClr val="007AFF"/>
                </a:solidFill>
                <a:latin typeface="Helvetica" pitchFamily="34" charset="0"/>
                <a:ea typeface="Helvetica" pitchFamily="34" charset="-122"/>
                <a:cs typeface="Helvetica" pitchFamily="34" charset="-120"/>
              </a:rPr>
              <a:t>Works as a real bootable operating system</a:t>
            </a:r>
            <a:endParaRPr lang="en-US" sz="1800" dirty="0"/>
          </a:p>
        </p:txBody>
      </p:sp>
      <p:sp>
        <p:nvSpPr>
          <p:cNvPr id="6" name="Text 4"/>
          <p:cNvSpPr/>
          <p:nvPr/>
        </p:nvSpPr>
        <p:spPr>
          <a:xfrm>
            <a:off x="822960" y="4663440"/>
            <a:ext cx="6035040" cy="457200"/>
          </a:xfrm>
          <a:prstGeom prst="rect">
            <a:avLst/>
          </a:prstGeom>
          <a:noFill/>
          <a:ln/>
        </p:spPr>
        <p:txBody>
          <a:bodyPr wrap="square" lIns="0" tIns="0" rIns="0" bIns="0" rtlCol="0" anchor="ctr"/>
          <a:lstStyle/>
          <a:p>
            <a:pPr indent="0" marL="0">
              <a:buNone/>
            </a:pPr>
            <a:r>
              <a:rPr lang="en-US" sz="1700" i="1" dirty="0">
                <a:solidFill>
                  <a:srgbClr val="8BE9FD"/>
                </a:solidFill>
                <a:latin typeface="Helvetica" pitchFamily="34" charset="0"/>
                <a:ea typeface="Helvetica" pitchFamily="34" charset="-122"/>
                <a:cs typeface="Helvetica" pitchFamily="34" charset="-120"/>
              </a:rPr>
              <a:t>→ Put it on a USB stick and boot any computer.</a:t>
            </a:r>
            <a:endParaRPr lang="en-US" sz="1700" dirty="0"/>
          </a:p>
        </p:txBody>
      </p:sp>
      <p:sp>
        <p:nvSpPr>
          <p:cNvPr id="7" name="Shape 5"/>
          <p:cNvSpPr/>
          <p:nvPr/>
        </p:nvSpPr>
        <p:spPr>
          <a:xfrm>
            <a:off x="822960" y="5303520"/>
            <a:ext cx="1828800" cy="914400"/>
          </a:xfrm>
          <a:prstGeom prst="rect">
            <a:avLst/>
          </a:prstGeom>
          <a:solidFill>
            <a:srgbClr val="14142B"/>
          </a:solidFill>
          <a:ln w="12700">
            <a:solidFill>
              <a:srgbClr val="007AFF"/>
            </a:solidFill>
            <a:prstDash val="solid"/>
          </a:ln>
        </p:spPr>
      </p:sp>
      <p:sp>
        <p:nvSpPr>
          <p:cNvPr id="8" name="Text 6"/>
          <p:cNvSpPr/>
          <p:nvPr/>
        </p:nvSpPr>
        <p:spPr>
          <a:xfrm>
            <a:off x="822960" y="5349240"/>
            <a:ext cx="1828800" cy="502920"/>
          </a:xfrm>
          <a:prstGeom prst="rect">
            <a:avLst/>
          </a:prstGeom>
          <a:noFill/>
          <a:ln/>
        </p:spPr>
        <p:txBody>
          <a:bodyPr wrap="square" lIns="0" tIns="0" rIns="0" bIns="0" rtlCol="0" anchor="ctr"/>
          <a:lstStyle/>
          <a:p>
            <a:pPr algn="ctr" indent="0" marL="0">
              <a:buNone/>
            </a:pPr>
            <a:r>
              <a:rPr lang="en-US" sz="2600" b="1" dirty="0">
                <a:solidFill>
                  <a:srgbClr val="007AFF"/>
                </a:solidFill>
                <a:latin typeface="Helvetica" pitchFamily="34" charset="0"/>
                <a:ea typeface="Helvetica" pitchFamily="34" charset="-122"/>
                <a:cs typeface="Helvetica" pitchFamily="34" charset="-120"/>
              </a:rPr>
              <a:t>52</a:t>
            </a:r>
            <a:endParaRPr lang="en-US" sz="2600" dirty="0"/>
          </a:p>
        </p:txBody>
      </p:sp>
      <p:sp>
        <p:nvSpPr>
          <p:cNvPr id="9" name="Text 7"/>
          <p:cNvSpPr/>
          <p:nvPr/>
        </p:nvSpPr>
        <p:spPr>
          <a:xfrm>
            <a:off x="822960" y="5852160"/>
            <a:ext cx="1828800" cy="320040"/>
          </a:xfrm>
          <a:prstGeom prst="rect">
            <a:avLst/>
          </a:prstGeom>
          <a:noFill/>
          <a:ln/>
        </p:spPr>
        <p:txBody>
          <a:bodyPr wrap="square" lIns="0" tIns="0" rIns="0" bIns="0" rtlCol="0" anchor="ctr"/>
          <a:lstStyle/>
          <a:p>
            <a:pPr algn="ctr" indent="0" marL="0">
              <a:buNone/>
            </a:pPr>
            <a:r>
              <a:rPr lang="en-US" sz="1100" b="1" spc="200" kern="0" dirty="0">
                <a:solidFill>
                  <a:srgbClr val="6A6A8A"/>
                </a:solidFill>
                <a:latin typeface="Helvetica" pitchFamily="34" charset="0"/>
                <a:ea typeface="Helvetica" pitchFamily="34" charset="-122"/>
                <a:cs typeface="Helvetica" pitchFamily="34" charset="-120"/>
              </a:rPr>
              <a:t>APPS</a:t>
            </a:r>
            <a:endParaRPr lang="en-US" sz="1100" dirty="0"/>
          </a:p>
        </p:txBody>
      </p:sp>
      <p:sp>
        <p:nvSpPr>
          <p:cNvPr id="10" name="Shape 8"/>
          <p:cNvSpPr/>
          <p:nvPr/>
        </p:nvSpPr>
        <p:spPr>
          <a:xfrm>
            <a:off x="2834640" y="5303520"/>
            <a:ext cx="1828800" cy="914400"/>
          </a:xfrm>
          <a:prstGeom prst="rect">
            <a:avLst/>
          </a:prstGeom>
          <a:solidFill>
            <a:srgbClr val="14142B"/>
          </a:solidFill>
          <a:ln w="12700">
            <a:solidFill>
              <a:srgbClr val="007AFF"/>
            </a:solidFill>
            <a:prstDash val="solid"/>
          </a:ln>
        </p:spPr>
      </p:sp>
      <p:sp>
        <p:nvSpPr>
          <p:cNvPr id="11" name="Text 9"/>
          <p:cNvSpPr/>
          <p:nvPr/>
        </p:nvSpPr>
        <p:spPr>
          <a:xfrm>
            <a:off x="2834640" y="5349240"/>
            <a:ext cx="1828800" cy="502920"/>
          </a:xfrm>
          <a:prstGeom prst="rect">
            <a:avLst/>
          </a:prstGeom>
          <a:noFill/>
          <a:ln/>
        </p:spPr>
        <p:txBody>
          <a:bodyPr wrap="square" lIns="0" tIns="0" rIns="0" bIns="0" rtlCol="0" anchor="ctr"/>
          <a:lstStyle/>
          <a:p>
            <a:pPr algn="ctr" indent="0" marL="0">
              <a:buNone/>
            </a:pPr>
            <a:r>
              <a:rPr lang="en-US" sz="2600" b="1" dirty="0">
                <a:solidFill>
                  <a:srgbClr val="007AFF"/>
                </a:solidFill>
                <a:latin typeface="Helvetica" pitchFamily="34" charset="0"/>
                <a:ea typeface="Helvetica" pitchFamily="34" charset="-122"/>
                <a:cs typeface="Helvetica" pitchFamily="34" charset="-120"/>
              </a:rPr>
              <a:t>2.1K</a:t>
            </a:r>
            <a:endParaRPr lang="en-US" sz="2600" dirty="0"/>
          </a:p>
        </p:txBody>
      </p:sp>
      <p:sp>
        <p:nvSpPr>
          <p:cNvPr id="12" name="Text 10"/>
          <p:cNvSpPr/>
          <p:nvPr/>
        </p:nvSpPr>
        <p:spPr>
          <a:xfrm>
            <a:off x="2834640" y="5852160"/>
            <a:ext cx="1828800" cy="320040"/>
          </a:xfrm>
          <a:prstGeom prst="rect">
            <a:avLst/>
          </a:prstGeom>
          <a:noFill/>
          <a:ln/>
        </p:spPr>
        <p:txBody>
          <a:bodyPr wrap="square" lIns="0" tIns="0" rIns="0" bIns="0" rtlCol="0" anchor="ctr"/>
          <a:lstStyle/>
          <a:p>
            <a:pPr algn="ctr" indent="0" marL="0">
              <a:buNone/>
            </a:pPr>
            <a:r>
              <a:rPr lang="en-US" sz="1100" b="1" spc="200" kern="0" dirty="0">
                <a:solidFill>
                  <a:srgbClr val="6A6A8A"/>
                </a:solidFill>
                <a:latin typeface="Helvetica" pitchFamily="34" charset="0"/>
                <a:ea typeface="Helvetica" pitchFamily="34" charset="-122"/>
                <a:cs typeface="Helvetica" pitchFamily="34" charset="-120"/>
              </a:rPr>
              <a:t>LINES OF C</a:t>
            </a:r>
            <a:endParaRPr lang="en-US" sz="1100" dirty="0"/>
          </a:p>
        </p:txBody>
      </p:sp>
      <p:sp>
        <p:nvSpPr>
          <p:cNvPr id="13" name="Shape 11"/>
          <p:cNvSpPr/>
          <p:nvPr/>
        </p:nvSpPr>
        <p:spPr>
          <a:xfrm>
            <a:off x="4846320" y="5303520"/>
            <a:ext cx="1828800" cy="914400"/>
          </a:xfrm>
          <a:prstGeom prst="rect">
            <a:avLst/>
          </a:prstGeom>
          <a:solidFill>
            <a:srgbClr val="14142B"/>
          </a:solidFill>
          <a:ln w="12700">
            <a:solidFill>
              <a:srgbClr val="007AFF"/>
            </a:solidFill>
            <a:prstDash val="solid"/>
          </a:ln>
        </p:spPr>
      </p:sp>
      <p:sp>
        <p:nvSpPr>
          <p:cNvPr id="14" name="Text 12"/>
          <p:cNvSpPr/>
          <p:nvPr/>
        </p:nvSpPr>
        <p:spPr>
          <a:xfrm>
            <a:off x="4846320" y="5349240"/>
            <a:ext cx="1828800" cy="502920"/>
          </a:xfrm>
          <a:prstGeom prst="rect">
            <a:avLst/>
          </a:prstGeom>
          <a:noFill/>
          <a:ln/>
        </p:spPr>
        <p:txBody>
          <a:bodyPr wrap="square" lIns="0" tIns="0" rIns="0" bIns="0" rtlCol="0" anchor="ctr"/>
          <a:lstStyle/>
          <a:p>
            <a:pPr algn="ctr" indent="0" marL="0">
              <a:buNone/>
            </a:pPr>
            <a:r>
              <a:rPr lang="en-US" sz="2600" b="1" dirty="0">
                <a:solidFill>
                  <a:srgbClr val="007AFF"/>
                </a:solidFill>
                <a:latin typeface="Helvetica" pitchFamily="34" charset="0"/>
                <a:ea typeface="Helvetica" pitchFamily="34" charset="-122"/>
                <a:cs typeface="Helvetica" pitchFamily="34" charset="-120"/>
              </a:rPr>
              <a:t>v0.1</a:t>
            </a:r>
            <a:endParaRPr lang="en-US" sz="2600" dirty="0"/>
          </a:p>
        </p:txBody>
      </p:sp>
      <p:sp>
        <p:nvSpPr>
          <p:cNvPr id="15" name="Text 13"/>
          <p:cNvSpPr/>
          <p:nvPr/>
        </p:nvSpPr>
        <p:spPr>
          <a:xfrm>
            <a:off x="4846320" y="5852160"/>
            <a:ext cx="1828800" cy="320040"/>
          </a:xfrm>
          <a:prstGeom prst="rect">
            <a:avLst/>
          </a:prstGeom>
          <a:noFill/>
          <a:ln/>
        </p:spPr>
        <p:txBody>
          <a:bodyPr wrap="square" lIns="0" tIns="0" rIns="0" bIns="0" rtlCol="0" anchor="ctr"/>
          <a:lstStyle/>
          <a:p>
            <a:pPr algn="ctr" indent="0" marL="0">
              <a:buNone/>
            </a:pPr>
            <a:r>
              <a:rPr lang="en-US" sz="1100" b="1" spc="200" kern="0" dirty="0">
                <a:solidFill>
                  <a:srgbClr val="6A6A8A"/>
                </a:solidFill>
                <a:latin typeface="Helvetica" pitchFamily="34" charset="0"/>
                <a:ea typeface="Helvetica" pitchFamily="34" charset="-122"/>
                <a:cs typeface="Helvetica" pitchFamily="34" charset="-120"/>
              </a:rPr>
              <a:t>RELEASED</a:t>
            </a:r>
            <a:endParaRPr lang="en-US" sz="1100" dirty="0"/>
          </a:p>
        </p:txBody>
      </p:sp>
      <p:sp>
        <p:nvSpPr>
          <p:cNvPr id="16" name="Shape 14"/>
          <p:cNvSpPr/>
          <p:nvPr/>
        </p:nvSpPr>
        <p:spPr>
          <a:xfrm>
            <a:off x="7223760" y="1280160"/>
            <a:ext cx="4480560" cy="5120640"/>
          </a:xfrm>
          <a:prstGeom prst="rect">
            <a:avLst/>
          </a:prstGeom>
          <a:solidFill>
            <a:srgbClr val="1C1C3A"/>
          </a:solidFill>
          <a:ln w="25400">
            <a:solidFill>
              <a:srgbClr val="007AFF"/>
            </a:solidFill>
            <a:prstDash val="dash"/>
          </a:ln>
        </p:spPr>
      </p:sp>
      <p:sp>
        <p:nvSpPr>
          <p:cNvPr id="17" name="Text 15"/>
          <p:cNvSpPr/>
          <p:nvPr/>
        </p:nvSpPr>
        <p:spPr>
          <a:xfrm>
            <a:off x="7223760" y="2201875"/>
            <a:ext cx="4480560" cy="822960"/>
          </a:xfrm>
          <a:prstGeom prst="rect">
            <a:avLst/>
          </a:prstGeom>
          <a:noFill/>
          <a:ln/>
        </p:spPr>
        <p:txBody>
          <a:bodyPr wrap="square" lIns="0" tIns="0" rIns="0" bIns="0" rtlCol="0" anchor="ctr"/>
          <a:lstStyle/>
          <a:p>
            <a:pPr algn="ctr" indent="0" marL="0">
              <a:buNone/>
            </a:pPr>
            <a:r>
              <a:rPr lang="en-US" sz="5400" dirty="0">
                <a:solidFill>
                  <a:srgbClr val="007AFF"/>
                </a:solidFill>
                <a:latin typeface="Helvetica" pitchFamily="34" charset="0"/>
                <a:ea typeface="Helvetica" pitchFamily="34" charset="-122"/>
                <a:cs typeface="Helvetica" pitchFamily="34" charset="-120"/>
              </a:rPr>
              <a:t>📷</a:t>
            </a:r>
            <a:endParaRPr lang="en-US" sz="5400" dirty="0"/>
          </a:p>
        </p:txBody>
      </p:sp>
      <p:sp>
        <p:nvSpPr>
          <p:cNvPr id="18" name="Text 16"/>
          <p:cNvSpPr/>
          <p:nvPr/>
        </p:nvSpPr>
        <p:spPr>
          <a:xfrm>
            <a:off x="7223760" y="4096512"/>
            <a:ext cx="4480560" cy="365760"/>
          </a:xfrm>
          <a:prstGeom prst="rect">
            <a:avLst/>
          </a:prstGeom>
          <a:noFill/>
          <a:ln/>
        </p:spPr>
        <p:txBody>
          <a:bodyPr wrap="square" lIns="0" tIns="0" rIns="0" bIns="0" rtlCol="0" anchor="ctr"/>
          <a:lstStyle/>
          <a:p>
            <a:pPr algn="ctr" indent="0" marL="0">
              <a:buNone/>
            </a:pPr>
            <a:r>
              <a:rPr lang="en-US" sz="1400" b="1" spc="300" kern="0" dirty="0">
                <a:solidFill>
                  <a:srgbClr val="007AFF"/>
                </a:solidFill>
                <a:latin typeface="Helvetica" pitchFamily="34" charset="0"/>
                <a:ea typeface="Helvetica" pitchFamily="34" charset="-122"/>
                <a:cs typeface="Helvetica" pitchFamily="34" charset="-120"/>
              </a:rPr>
              <a:t>IMAGE PLACEHOLDER</a:t>
            </a:r>
            <a:endParaRPr lang="en-US" sz="1400" dirty="0"/>
          </a:p>
        </p:txBody>
      </p:sp>
      <p:sp>
        <p:nvSpPr>
          <p:cNvPr id="19" name="Text 17"/>
          <p:cNvSpPr/>
          <p:nvPr/>
        </p:nvSpPr>
        <p:spPr>
          <a:xfrm>
            <a:off x="7498080" y="4762195"/>
            <a:ext cx="3931920" cy="548640"/>
          </a:xfrm>
          <a:prstGeom prst="rect">
            <a:avLst/>
          </a:prstGeom>
          <a:noFill/>
          <a:ln/>
        </p:spPr>
        <p:txBody>
          <a:bodyPr wrap="square" lIns="0" tIns="0" rIns="0" bIns="0" rtlCol="0" anchor="ctr"/>
          <a:lstStyle/>
          <a:p>
            <a:pPr algn="ctr" indent="0" marL="0">
              <a:buNone/>
            </a:pPr>
            <a:r>
              <a:rPr lang="en-US" sz="1200" i="1" dirty="0">
                <a:solidFill>
                  <a:srgbClr val="B8B8D0"/>
                </a:solidFill>
                <a:latin typeface="Helvetica" pitchFamily="34" charset="0"/>
                <a:ea typeface="Helvetica" pitchFamily="34" charset="-122"/>
                <a:cs typeface="Helvetica" pitchFamily="34" charset="-120"/>
              </a:rPr>
              <a:t>drop desktop screenshot here</a:t>
            </a:r>
            <a:endParaRPr lang="en-US" sz="1200" dirty="0"/>
          </a:p>
        </p:txBody>
      </p:sp>
      <p:sp>
        <p:nvSpPr>
          <p:cNvPr id="21" name="Shape 18"/>
          <p:cNvSpPr/>
          <p:nvPr/>
        </p:nvSpPr>
        <p:spPr>
          <a:xfrm>
            <a:off x="0" y="6537960"/>
            <a:ext cx="12161520" cy="320040"/>
          </a:xfrm>
          <a:prstGeom prst="rect">
            <a:avLst/>
          </a:prstGeom>
          <a:solidFill>
            <a:srgbClr val="14142B"/>
          </a:solidFill>
          <a:ln w="12700">
            <a:solidFill>
              <a:srgbClr val="14142B"/>
            </a:solidFill>
            <a:prstDash val="solid"/>
          </a:ln>
        </p:spPr>
      </p:sp>
      <p:sp>
        <p:nvSpPr>
          <p:cNvPr id="22" name="Text 19"/>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23" name="Text 20"/>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14142B"/>
          </a:solidFill>
          <a:ln w="12700">
            <a:solidFill>
              <a:srgbClr val="14142B"/>
            </a:solidFill>
            <a:prstDash val="solid"/>
          </a:ln>
        </p:spPr>
      </p:sp>
      <p:sp>
        <p:nvSpPr>
          <p:cNvPr id="3" name="Shape 1"/>
          <p:cNvSpPr/>
          <p:nvPr/>
        </p:nvSpPr>
        <p:spPr>
          <a:xfrm>
            <a:off x="0" y="1005840"/>
            <a:ext cx="12161520" cy="36576"/>
          </a:xfrm>
          <a:prstGeom prst="rect">
            <a:avLst/>
          </a:prstGeom>
          <a:solidFill>
            <a:srgbClr val="007AFF"/>
          </a:solidFill>
          <a:ln w="12700">
            <a:solidFill>
              <a:srgbClr val="007AFF"/>
            </a:solidFill>
            <a:prstDash val="solid"/>
          </a:ln>
        </p:spPr>
      </p:sp>
      <p:sp>
        <p:nvSpPr>
          <p:cNvPr id="4" name="Text 2"/>
          <p:cNvSpPr/>
          <p:nvPr/>
        </p:nvSpPr>
        <p:spPr>
          <a:xfrm>
            <a:off x="457200" y="228600"/>
            <a:ext cx="11247120" cy="274320"/>
          </a:xfrm>
          <a:prstGeom prst="rect">
            <a:avLst/>
          </a:prstGeom>
          <a:noFill/>
          <a:ln/>
        </p:spPr>
        <p:txBody>
          <a:bodyPr wrap="square" lIns="0" tIns="0" rIns="0" bIns="0" rtlCol="0" anchor="ctr"/>
          <a:lstStyle/>
          <a:p>
            <a:pPr indent="0" marL="0">
              <a:buNone/>
            </a:pPr>
            <a:r>
              <a:rPr lang="en-US" sz="1400" b="1" spc="400" kern="0" dirty="0">
                <a:solidFill>
                  <a:srgbClr val="007AFF"/>
                </a:solidFill>
                <a:latin typeface="Helvetica" pitchFamily="34" charset="0"/>
                <a:ea typeface="Helvetica" pitchFamily="34" charset="-122"/>
                <a:cs typeface="Helvetica" pitchFamily="34" charset="-120"/>
              </a:rPr>
              <a:t>THE BIG IDEA</a:t>
            </a:r>
            <a:endParaRPr lang="en-US" sz="1400" dirty="0"/>
          </a:p>
        </p:txBody>
      </p:sp>
      <p:sp>
        <p:nvSpPr>
          <p:cNvPr id="5" name="Text 3"/>
          <p:cNvSpPr/>
          <p:nvPr/>
        </p:nvSpPr>
        <p:spPr>
          <a:xfrm>
            <a:off x="457200" y="457200"/>
            <a:ext cx="11247120" cy="50292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The Thinking House</a:t>
            </a:r>
            <a:endParaRPr lang="en-US" sz="3200" dirty="0"/>
          </a:p>
        </p:txBody>
      </p:sp>
      <p:sp>
        <p:nvSpPr>
          <p:cNvPr id="6" name="Text 4"/>
          <p:cNvSpPr/>
          <p:nvPr/>
        </p:nvSpPr>
        <p:spPr>
          <a:xfrm>
            <a:off x="548640" y="1417320"/>
            <a:ext cx="1106424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Helvetica" pitchFamily="34" charset="0"/>
                <a:ea typeface="Helvetica" pitchFamily="34" charset="-122"/>
                <a:cs typeface="Helvetica" pitchFamily="34" charset="-120"/>
              </a:rPr>
              <a:t>Imagine a house that can think for itself.</a:t>
            </a:r>
            <a:endParaRPr lang="en-US" sz="4000" dirty="0"/>
          </a:p>
        </p:txBody>
      </p:sp>
      <p:sp>
        <p:nvSpPr>
          <p:cNvPr id="7" name="Shape 5"/>
          <p:cNvSpPr/>
          <p:nvPr/>
        </p:nvSpPr>
        <p:spPr>
          <a:xfrm>
            <a:off x="411480" y="2468880"/>
            <a:ext cx="3566160" cy="2743200"/>
          </a:xfrm>
          <a:prstGeom prst="rect">
            <a:avLst/>
          </a:prstGeom>
          <a:solidFill>
            <a:srgbClr val="14142B"/>
          </a:solidFill>
          <a:ln w="12700">
            <a:solidFill>
              <a:srgbClr val="1C1C3A"/>
            </a:solidFill>
            <a:prstDash val="solid"/>
          </a:ln>
        </p:spPr>
      </p:sp>
      <p:sp>
        <p:nvSpPr>
          <p:cNvPr id="8" name="Text 6"/>
          <p:cNvSpPr/>
          <p:nvPr/>
        </p:nvSpPr>
        <p:spPr>
          <a:xfrm>
            <a:off x="411480" y="2651760"/>
            <a:ext cx="3566160" cy="1188720"/>
          </a:xfrm>
          <a:prstGeom prst="rect">
            <a:avLst/>
          </a:prstGeom>
          <a:noFill/>
          <a:ln/>
        </p:spPr>
        <p:txBody>
          <a:bodyPr wrap="square" lIns="0" tIns="0" rIns="0" bIns="0" rtlCol="0" anchor="ctr"/>
          <a:lstStyle/>
          <a:p>
            <a:pPr algn="ctr" indent="0" marL="0">
              <a:buNone/>
            </a:pPr>
            <a:r>
              <a:rPr lang="en-US" sz="8000" dirty="0">
                <a:solidFill>
                  <a:srgbClr val="FFFFFF"/>
                </a:solidFill>
                <a:latin typeface="Helvetica" pitchFamily="34" charset="0"/>
                <a:ea typeface="Helvetica" pitchFamily="34" charset="-122"/>
                <a:cs typeface="Helvetica" pitchFamily="34" charset="-120"/>
              </a:rPr>
              <a:t>🛋️</a:t>
            </a:r>
            <a:endParaRPr lang="en-US" sz="8000" dirty="0"/>
          </a:p>
        </p:txBody>
      </p:sp>
      <p:sp>
        <p:nvSpPr>
          <p:cNvPr id="9" name="Text 7"/>
          <p:cNvSpPr/>
          <p:nvPr/>
        </p:nvSpPr>
        <p:spPr>
          <a:xfrm>
            <a:off x="411480" y="384048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Helvetica" pitchFamily="34" charset="0"/>
                <a:ea typeface="Helvetica" pitchFamily="34" charset="-122"/>
                <a:cs typeface="Helvetica" pitchFamily="34" charset="-120"/>
              </a:rPr>
              <a:t>Living room</a:t>
            </a:r>
            <a:endParaRPr lang="en-US" sz="2200" dirty="0"/>
          </a:p>
        </p:txBody>
      </p:sp>
      <p:sp>
        <p:nvSpPr>
          <p:cNvPr id="10" name="Text 8"/>
          <p:cNvSpPr/>
          <p:nvPr/>
        </p:nvSpPr>
        <p:spPr>
          <a:xfrm>
            <a:off x="548640" y="4389120"/>
            <a:ext cx="3291840" cy="640080"/>
          </a:xfrm>
          <a:prstGeom prst="rect">
            <a:avLst/>
          </a:prstGeom>
          <a:noFill/>
          <a:ln/>
        </p:spPr>
        <p:txBody>
          <a:bodyPr wrap="square" lIns="0" tIns="0" rIns="0" bIns="0" rtlCol="0" anchor="ctr"/>
          <a:lstStyle/>
          <a:p>
            <a:pPr algn="ctr" indent="0" marL="0">
              <a:buNone/>
            </a:pPr>
            <a:r>
              <a:rPr lang="en-US" sz="1400" i="1" dirty="0">
                <a:solidFill>
                  <a:srgbClr val="B8B8D0"/>
                </a:solidFill>
                <a:latin typeface="Helvetica" pitchFamily="34" charset="0"/>
                <a:ea typeface="Helvetica" pitchFamily="34" charset="-122"/>
                <a:cs typeface="Helvetica" pitchFamily="34" charset="-120"/>
              </a:rPr>
              <a:t>Normal day</a:t>
            </a:r>
            <a:endParaRPr lang="en-US" sz="1400" dirty="0"/>
          </a:p>
        </p:txBody>
      </p:sp>
      <p:sp>
        <p:nvSpPr>
          <p:cNvPr id="11" name="Text 9"/>
          <p:cNvSpPr/>
          <p:nvPr/>
        </p:nvSpPr>
        <p:spPr>
          <a:xfrm>
            <a:off x="3995928" y="3383280"/>
            <a:ext cx="320040" cy="731520"/>
          </a:xfrm>
          <a:prstGeom prst="rect">
            <a:avLst/>
          </a:prstGeom>
          <a:noFill/>
          <a:ln/>
        </p:spPr>
        <p:txBody>
          <a:bodyPr wrap="square" lIns="0" tIns="0" rIns="0" bIns="0" rtlCol="0" anchor="ctr"/>
          <a:lstStyle/>
          <a:p>
            <a:pPr algn="ctr" indent="0" marL="0">
              <a:buNone/>
            </a:pPr>
            <a:r>
              <a:rPr lang="en-US" sz="3600" b="1" dirty="0">
                <a:solidFill>
                  <a:srgbClr val="007AFF"/>
                </a:solidFill>
                <a:latin typeface="Helvetica" pitchFamily="34" charset="0"/>
                <a:ea typeface="Helvetica" pitchFamily="34" charset="-122"/>
                <a:cs typeface="Helvetica" pitchFamily="34" charset="-120"/>
              </a:rPr>
              <a:t>→</a:t>
            </a:r>
            <a:endParaRPr lang="en-US" sz="3600" dirty="0"/>
          </a:p>
        </p:txBody>
      </p:sp>
      <p:sp>
        <p:nvSpPr>
          <p:cNvPr id="12" name="Shape 10"/>
          <p:cNvSpPr/>
          <p:nvPr/>
        </p:nvSpPr>
        <p:spPr>
          <a:xfrm>
            <a:off x="4297680" y="2468880"/>
            <a:ext cx="3566160" cy="2743200"/>
          </a:xfrm>
          <a:prstGeom prst="rect">
            <a:avLst/>
          </a:prstGeom>
          <a:solidFill>
            <a:srgbClr val="14142B"/>
          </a:solidFill>
          <a:ln w="25400">
            <a:solidFill>
              <a:srgbClr val="007AFF"/>
            </a:solidFill>
            <a:prstDash val="solid"/>
          </a:ln>
        </p:spPr>
      </p:sp>
      <p:sp>
        <p:nvSpPr>
          <p:cNvPr id="13" name="Text 11"/>
          <p:cNvSpPr/>
          <p:nvPr/>
        </p:nvSpPr>
        <p:spPr>
          <a:xfrm>
            <a:off x="4297680" y="2651760"/>
            <a:ext cx="3566160" cy="1188720"/>
          </a:xfrm>
          <a:prstGeom prst="rect">
            <a:avLst/>
          </a:prstGeom>
          <a:noFill/>
          <a:ln/>
        </p:spPr>
        <p:txBody>
          <a:bodyPr wrap="square" lIns="0" tIns="0" rIns="0" bIns="0" rtlCol="0" anchor="ctr"/>
          <a:lstStyle/>
          <a:p>
            <a:pPr algn="ctr" indent="0" marL="0">
              <a:buNone/>
            </a:pPr>
            <a:r>
              <a:rPr lang="en-US" sz="8000" dirty="0">
                <a:solidFill>
                  <a:srgbClr val="FFFFFF"/>
                </a:solidFill>
                <a:latin typeface="Helvetica" pitchFamily="34" charset="0"/>
                <a:ea typeface="Helvetica" pitchFamily="34" charset="-122"/>
                <a:cs typeface="Helvetica" pitchFamily="34" charset="-120"/>
              </a:rPr>
              <a:t>🍰</a:t>
            </a:r>
            <a:endParaRPr lang="en-US" sz="8000" dirty="0"/>
          </a:p>
        </p:txBody>
      </p:sp>
      <p:sp>
        <p:nvSpPr>
          <p:cNvPr id="14" name="Text 12"/>
          <p:cNvSpPr/>
          <p:nvPr/>
        </p:nvSpPr>
        <p:spPr>
          <a:xfrm>
            <a:off x="4297680" y="384048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Helvetica" pitchFamily="34" charset="0"/>
                <a:ea typeface="Helvetica" pitchFamily="34" charset="-122"/>
                <a:cs typeface="Helvetica" pitchFamily="34" charset="-120"/>
              </a:rPr>
              <a:t>Kitchen</a:t>
            </a:r>
            <a:endParaRPr lang="en-US" sz="2200" dirty="0"/>
          </a:p>
        </p:txBody>
      </p:sp>
      <p:sp>
        <p:nvSpPr>
          <p:cNvPr id="15" name="Text 13"/>
          <p:cNvSpPr/>
          <p:nvPr/>
        </p:nvSpPr>
        <p:spPr>
          <a:xfrm>
            <a:off x="4434840" y="4389120"/>
            <a:ext cx="3291840" cy="640080"/>
          </a:xfrm>
          <a:prstGeom prst="rect">
            <a:avLst/>
          </a:prstGeom>
          <a:noFill/>
          <a:ln/>
        </p:spPr>
        <p:txBody>
          <a:bodyPr wrap="square" lIns="0" tIns="0" rIns="0" bIns="0" rtlCol="0" anchor="ctr"/>
          <a:lstStyle/>
          <a:p>
            <a:pPr algn="ctr" indent="0" marL="0">
              <a:buNone/>
            </a:pPr>
            <a:r>
              <a:rPr lang="en-US" sz="1400" i="1" dirty="0">
                <a:solidFill>
                  <a:srgbClr val="B8B8D0"/>
                </a:solidFill>
                <a:latin typeface="Helvetica" pitchFamily="34" charset="0"/>
                <a:ea typeface="Helvetica" pitchFamily="34" charset="-122"/>
                <a:cs typeface="Helvetica" pitchFamily="34" charset="-120"/>
              </a:rPr>
              <a:t>"I want to bake a cake"</a:t>
            </a:r>
            <a:endParaRPr lang="en-US" sz="1400" dirty="0"/>
          </a:p>
        </p:txBody>
      </p:sp>
      <p:sp>
        <p:nvSpPr>
          <p:cNvPr id="16" name="Text 14"/>
          <p:cNvSpPr/>
          <p:nvPr/>
        </p:nvSpPr>
        <p:spPr>
          <a:xfrm>
            <a:off x="7882128" y="3383280"/>
            <a:ext cx="320040" cy="731520"/>
          </a:xfrm>
          <a:prstGeom prst="rect">
            <a:avLst/>
          </a:prstGeom>
          <a:noFill/>
          <a:ln/>
        </p:spPr>
        <p:txBody>
          <a:bodyPr wrap="square" lIns="0" tIns="0" rIns="0" bIns="0" rtlCol="0" anchor="ctr"/>
          <a:lstStyle/>
          <a:p>
            <a:pPr algn="ctr" indent="0" marL="0">
              <a:buNone/>
            </a:pPr>
            <a:r>
              <a:rPr lang="en-US" sz="3600" b="1" dirty="0">
                <a:solidFill>
                  <a:srgbClr val="007AFF"/>
                </a:solidFill>
                <a:latin typeface="Helvetica" pitchFamily="34" charset="0"/>
                <a:ea typeface="Helvetica" pitchFamily="34" charset="-122"/>
                <a:cs typeface="Helvetica" pitchFamily="34" charset="-120"/>
              </a:rPr>
              <a:t>→</a:t>
            </a:r>
            <a:endParaRPr lang="en-US" sz="3600" dirty="0"/>
          </a:p>
        </p:txBody>
      </p:sp>
      <p:sp>
        <p:nvSpPr>
          <p:cNvPr id="17" name="Shape 15"/>
          <p:cNvSpPr/>
          <p:nvPr/>
        </p:nvSpPr>
        <p:spPr>
          <a:xfrm>
            <a:off x="8183880" y="2468880"/>
            <a:ext cx="3566160" cy="2743200"/>
          </a:xfrm>
          <a:prstGeom prst="rect">
            <a:avLst/>
          </a:prstGeom>
          <a:solidFill>
            <a:srgbClr val="14142B"/>
          </a:solidFill>
          <a:ln w="12700">
            <a:solidFill>
              <a:srgbClr val="1C1C3A"/>
            </a:solidFill>
            <a:prstDash val="solid"/>
          </a:ln>
        </p:spPr>
      </p:sp>
      <p:sp>
        <p:nvSpPr>
          <p:cNvPr id="18" name="Text 16"/>
          <p:cNvSpPr/>
          <p:nvPr/>
        </p:nvSpPr>
        <p:spPr>
          <a:xfrm>
            <a:off x="8183880" y="2651760"/>
            <a:ext cx="3566160" cy="1188720"/>
          </a:xfrm>
          <a:prstGeom prst="rect">
            <a:avLst/>
          </a:prstGeom>
          <a:noFill/>
          <a:ln/>
        </p:spPr>
        <p:txBody>
          <a:bodyPr wrap="square" lIns="0" tIns="0" rIns="0" bIns="0" rtlCol="0" anchor="ctr"/>
          <a:lstStyle/>
          <a:p>
            <a:pPr algn="ctr" indent="0" marL="0">
              <a:buNone/>
            </a:pPr>
            <a:r>
              <a:rPr lang="en-US" sz="8000" dirty="0">
                <a:solidFill>
                  <a:srgbClr val="FFFFFF"/>
                </a:solidFill>
                <a:latin typeface="Helvetica" pitchFamily="34" charset="0"/>
                <a:ea typeface="Helvetica" pitchFamily="34" charset="-122"/>
                <a:cs typeface="Helvetica" pitchFamily="34" charset="-120"/>
              </a:rPr>
              <a:t>🛋️</a:t>
            </a:r>
            <a:endParaRPr lang="en-US" sz="8000" dirty="0"/>
          </a:p>
        </p:txBody>
      </p:sp>
      <p:sp>
        <p:nvSpPr>
          <p:cNvPr id="19" name="Text 17"/>
          <p:cNvSpPr/>
          <p:nvPr/>
        </p:nvSpPr>
        <p:spPr>
          <a:xfrm>
            <a:off x="8183880" y="384048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Helvetica" pitchFamily="34" charset="0"/>
                <a:ea typeface="Helvetica" pitchFamily="34" charset="-122"/>
                <a:cs typeface="Helvetica" pitchFamily="34" charset="-120"/>
              </a:rPr>
              <a:t>Living room again</a:t>
            </a:r>
            <a:endParaRPr lang="en-US" sz="2200" dirty="0"/>
          </a:p>
        </p:txBody>
      </p:sp>
      <p:sp>
        <p:nvSpPr>
          <p:cNvPr id="20" name="Text 18"/>
          <p:cNvSpPr/>
          <p:nvPr/>
        </p:nvSpPr>
        <p:spPr>
          <a:xfrm>
            <a:off x="8321040" y="4389120"/>
            <a:ext cx="3291840" cy="640080"/>
          </a:xfrm>
          <a:prstGeom prst="rect">
            <a:avLst/>
          </a:prstGeom>
          <a:noFill/>
          <a:ln/>
        </p:spPr>
        <p:txBody>
          <a:bodyPr wrap="square" lIns="0" tIns="0" rIns="0" bIns="0" rtlCol="0" anchor="ctr"/>
          <a:lstStyle/>
          <a:p>
            <a:pPr algn="ctr" indent="0" marL="0">
              <a:buNone/>
            </a:pPr>
            <a:r>
              <a:rPr lang="en-US" sz="1400" i="1" dirty="0">
                <a:solidFill>
                  <a:srgbClr val="B8B8D0"/>
                </a:solidFill>
                <a:latin typeface="Helvetica" pitchFamily="34" charset="0"/>
                <a:ea typeface="Helvetica" pitchFamily="34" charset="-122"/>
                <a:cs typeface="Helvetica" pitchFamily="34" charset="-120"/>
              </a:rPr>
              <a:t>When you're done</a:t>
            </a:r>
            <a:endParaRPr lang="en-US" sz="1400" dirty="0"/>
          </a:p>
        </p:txBody>
      </p:sp>
      <p:sp>
        <p:nvSpPr>
          <p:cNvPr id="21" name="Shape 19"/>
          <p:cNvSpPr/>
          <p:nvPr/>
        </p:nvSpPr>
        <p:spPr>
          <a:xfrm>
            <a:off x="457200" y="5486400"/>
            <a:ext cx="11247120" cy="822960"/>
          </a:xfrm>
          <a:prstGeom prst="rect">
            <a:avLst/>
          </a:prstGeom>
          <a:solidFill>
            <a:srgbClr val="007AFF"/>
          </a:solidFill>
          <a:ln w="12700">
            <a:solidFill>
              <a:srgbClr val="007AFF"/>
            </a:solidFill>
            <a:prstDash val="solid"/>
          </a:ln>
        </p:spPr>
      </p:sp>
      <p:sp>
        <p:nvSpPr>
          <p:cNvPr id="22" name="Text 20"/>
          <p:cNvSpPr/>
          <p:nvPr/>
        </p:nvSpPr>
        <p:spPr>
          <a:xfrm>
            <a:off x="457200" y="5486400"/>
            <a:ext cx="1124712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Helvetica" pitchFamily="34" charset="0"/>
                <a:ea typeface="Helvetica" pitchFamily="34" charset="-122"/>
                <a:cs typeface="Helvetica" pitchFamily="34" charset="-120"/>
              </a:rPr>
              <a:t>That's what I'm actually trying to build.</a:t>
            </a:r>
            <a:endParaRPr lang="en-US" sz="2400" dirty="0"/>
          </a:p>
        </p:txBody>
      </p:sp>
      <p:sp>
        <p:nvSpPr>
          <p:cNvPr id="24" name="Shape 21"/>
          <p:cNvSpPr/>
          <p:nvPr/>
        </p:nvSpPr>
        <p:spPr>
          <a:xfrm>
            <a:off x="0" y="6537960"/>
            <a:ext cx="12161520" cy="320040"/>
          </a:xfrm>
          <a:prstGeom prst="rect">
            <a:avLst/>
          </a:prstGeom>
          <a:solidFill>
            <a:srgbClr val="14142B"/>
          </a:solidFill>
          <a:ln w="12700">
            <a:solidFill>
              <a:srgbClr val="14142B"/>
            </a:solidFill>
            <a:prstDash val="solid"/>
          </a:ln>
        </p:spPr>
      </p:sp>
      <p:sp>
        <p:nvSpPr>
          <p:cNvPr id="25" name="Text 22"/>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26" name="Text 23"/>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What I Already Built</a:t>
            </a:r>
            <a:endParaRPr lang="en-US" sz="3200" dirty="0"/>
          </a:p>
        </p:txBody>
      </p:sp>
      <p:sp>
        <p:nvSpPr>
          <p:cNvPr id="4" name="Text 2"/>
          <p:cNvSpPr/>
          <p:nvPr/>
        </p:nvSpPr>
        <p:spPr>
          <a:xfrm>
            <a:off x="685800" y="1371600"/>
            <a:ext cx="10789920" cy="548640"/>
          </a:xfrm>
          <a:prstGeom prst="rect">
            <a:avLst/>
          </a:prstGeom>
          <a:noFill/>
          <a:ln/>
        </p:spPr>
        <p:txBody>
          <a:bodyPr wrap="square" lIns="0" tIns="0" rIns="0" bIns="0" rtlCol="0" anchor="ctr"/>
          <a:lstStyle/>
          <a:p>
            <a:pPr indent="0" marL="0">
              <a:buNone/>
            </a:pPr>
            <a:r>
              <a:rPr lang="en-US" sz="2200" i="1" dirty="0">
                <a:solidFill>
                  <a:srgbClr val="B8B8D0"/>
                </a:solidFill>
                <a:latin typeface="Helvetica" pitchFamily="34" charset="0"/>
                <a:ea typeface="Helvetica" pitchFamily="34" charset="-122"/>
                <a:cs typeface="Helvetica" pitchFamily="34" charset="-120"/>
              </a:rPr>
              <a:t>The foundation is real.</a:t>
            </a:r>
            <a:endParaRPr lang="en-US" sz="2200" dirty="0"/>
          </a:p>
        </p:txBody>
      </p:sp>
      <p:sp>
        <p:nvSpPr>
          <p:cNvPr id="5" name="Shape 3"/>
          <p:cNvSpPr/>
          <p:nvPr/>
        </p:nvSpPr>
        <p:spPr>
          <a:xfrm>
            <a:off x="777240" y="2148840"/>
            <a:ext cx="411480" cy="411480"/>
          </a:xfrm>
          <a:prstGeom prst="ellipse">
            <a:avLst/>
          </a:prstGeom>
          <a:solidFill>
            <a:srgbClr val="50FA7B"/>
          </a:solidFill>
          <a:ln w="12700">
            <a:solidFill>
              <a:srgbClr val="50FA7B"/>
            </a:solidFill>
            <a:prstDash val="solid"/>
          </a:ln>
        </p:spPr>
      </p:sp>
      <p:sp>
        <p:nvSpPr>
          <p:cNvPr id="6" name="Text 4"/>
          <p:cNvSpPr/>
          <p:nvPr/>
        </p:nvSpPr>
        <p:spPr>
          <a:xfrm>
            <a:off x="777240" y="2148840"/>
            <a:ext cx="411480" cy="411480"/>
          </a:xfrm>
          <a:prstGeom prst="rect">
            <a:avLst/>
          </a:prstGeom>
          <a:noFill/>
          <a:ln/>
        </p:spPr>
        <p:txBody>
          <a:bodyPr wrap="square" lIns="0" tIns="0" rIns="0" bIns="0" rtlCol="0" anchor="ctr"/>
          <a:lstStyle/>
          <a:p>
            <a:pPr algn="ctr" indent="0" marL="0">
              <a:buNone/>
            </a:pPr>
            <a:r>
              <a:rPr lang="en-US" sz="1800" b="1" dirty="0">
                <a:solidFill>
                  <a:srgbClr val="0A0A1A"/>
                </a:solidFill>
                <a:latin typeface="Helvetica" pitchFamily="34" charset="0"/>
                <a:ea typeface="Helvetica" pitchFamily="34" charset="-122"/>
                <a:cs typeface="Helvetica" pitchFamily="34" charset="-120"/>
              </a:rPr>
              <a:t>✓</a:t>
            </a:r>
            <a:endParaRPr lang="en-US" sz="1800" dirty="0"/>
          </a:p>
        </p:txBody>
      </p:sp>
      <p:sp>
        <p:nvSpPr>
          <p:cNvPr id="7" name="Text 5"/>
          <p:cNvSpPr/>
          <p:nvPr/>
        </p:nvSpPr>
        <p:spPr>
          <a:xfrm>
            <a:off x="1371600" y="2057400"/>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52 apps</a:t>
            </a:r>
            <a:endParaRPr lang="en-US" sz="1800" dirty="0"/>
          </a:p>
        </p:txBody>
      </p:sp>
      <p:sp>
        <p:nvSpPr>
          <p:cNvPr id="8" name="Text 6"/>
          <p:cNvSpPr/>
          <p:nvPr/>
        </p:nvSpPr>
        <p:spPr>
          <a:xfrm>
            <a:off x="1371600" y="2404872"/>
            <a:ext cx="5486400" cy="320040"/>
          </a:xfrm>
          <a:prstGeom prst="rect">
            <a:avLst/>
          </a:prstGeom>
          <a:noFill/>
          <a:ln/>
        </p:spPr>
        <p:txBody>
          <a:bodyPr wrap="square" lIns="0" tIns="0" rIns="0" bIns="0" rtlCol="0" anchor="ctr"/>
          <a:lstStyle/>
          <a:p>
            <a:pPr indent="0" marL="0">
              <a:buNone/>
            </a:pPr>
            <a:r>
              <a:rPr lang="en-US" sz="1200" dirty="0">
                <a:solidFill>
                  <a:srgbClr val="6A6A8A"/>
                </a:solidFill>
                <a:latin typeface="Helvetica" pitchFamily="34" charset="0"/>
                <a:ea typeface="Helvetica" pitchFamily="34" charset="-122"/>
                <a:cs typeface="Helvetica" pitchFamily="34" charset="-120"/>
              </a:rPr>
              <a:t>Notes, Terminal, Browser, Draw, Music, Chess, Messages…</a:t>
            </a:r>
            <a:endParaRPr lang="en-US" sz="1200" dirty="0"/>
          </a:p>
        </p:txBody>
      </p:sp>
      <p:sp>
        <p:nvSpPr>
          <p:cNvPr id="9" name="Shape 7"/>
          <p:cNvSpPr/>
          <p:nvPr/>
        </p:nvSpPr>
        <p:spPr>
          <a:xfrm>
            <a:off x="777240" y="2898648"/>
            <a:ext cx="411480" cy="411480"/>
          </a:xfrm>
          <a:prstGeom prst="ellipse">
            <a:avLst/>
          </a:prstGeom>
          <a:solidFill>
            <a:srgbClr val="50FA7B"/>
          </a:solidFill>
          <a:ln w="12700">
            <a:solidFill>
              <a:srgbClr val="50FA7B"/>
            </a:solidFill>
            <a:prstDash val="solid"/>
          </a:ln>
        </p:spPr>
      </p:sp>
      <p:sp>
        <p:nvSpPr>
          <p:cNvPr id="10" name="Text 8"/>
          <p:cNvSpPr/>
          <p:nvPr/>
        </p:nvSpPr>
        <p:spPr>
          <a:xfrm>
            <a:off x="777240" y="2898648"/>
            <a:ext cx="411480" cy="411480"/>
          </a:xfrm>
          <a:prstGeom prst="rect">
            <a:avLst/>
          </a:prstGeom>
          <a:noFill/>
          <a:ln/>
        </p:spPr>
        <p:txBody>
          <a:bodyPr wrap="square" lIns="0" tIns="0" rIns="0" bIns="0" rtlCol="0" anchor="ctr"/>
          <a:lstStyle/>
          <a:p>
            <a:pPr algn="ctr" indent="0" marL="0">
              <a:buNone/>
            </a:pPr>
            <a:r>
              <a:rPr lang="en-US" sz="1800" b="1" dirty="0">
                <a:solidFill>
                  <a:srgbClr val="0A0A1A"/>
                </a:solidFill>
                <a:latin typeface="Helvetica" pitchFamily="34" charset="0"/>
                <a:ea typeface="Helvetica" pitchFamily="34" charset="-122"/>
                <a:cs typeface="Helvetica" pitchFamily="34" charset="-120"/>
              </a:rPr>
              <a:t>✓</a:t>
            </a:r>
            <a:endParaRPr lang="en-US" sz="1800" dirty="0"/>
          </a:p>
        </p:txBody>
      </p:sp>
      <p:sp>
        <p:nvSpPr>
          <p:cNvPr id="11" name="Text 9"/>
          <p:cNvSpPr/>
          <p:nvPr/>
        </p:nvSpPr>
        <p:spPr>
          <a:xfrm>
            <a:off x="1371600" y="2807208"/>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Native C desktop shell</a:t>
            </a:r>
            <a:endParaRPr lang="en-US" sz="1800" dirty="0"/>
          </a:p>
        </p:txBody>
      </p:sp>
      <p:sp>
        <p:nvSpPr>
          <p:cNvPr id="12" name="Text 10"/>
          <p:cNvSpPr/>
          <p:nvPr/>
        </p:nvSpPr>
        <p:spPr>
          <a:xfrm>
            <a:off x="1371600" y="3154680"/>
            <a:ext cx="5486400" cy="320040"/>
          </a:xfrm>
          <a:prstGeom prst="rect">
            <a:avLst/>
          </a:prstGeom>
          <a:noFill/>
          <a:ln/>
        </p:spPr>
        <p:txBody>
          <a:bodyPr wrap="square" lIns="0" tIns="0" rIns="0" bIns="0" rtlCol="0" anchor="ctr"/>
          <a:lstStyle/>
          <a:p>
            <a:pPr indent="0" marL="0">
              <a:buNone/>
            </a:pPr>
            <a:r>
              <a:rPr lang="en-US" sz="1200" dirty="0">
                <a:solidFill>
                  <a:srgbClr val="6A6A8A"/>
                </a:solidFill>
                <a:latin typeface="Helvetica" pitchFamily="34" charset="0"/>
                <a:ea typeface="Helvetica" pitchFamily="34" charset="-122"/>
                <a:cs typeface="Helvetica" pitchFamily="34" charset="-120"/>
              </a:rPr>
              <a:t>2,131 lines of C — like macOS</a:t>
            </a:r>
            <a:endParaRPr lang="en-US" sz="1200" dirty="0"/>
          </a:p>
        </p:txBody>
      </p:sp>
      <p:sp>
        <p:nvSpPr>
          <p:cNvPr id="13" name="Shape 11"/>
          <p:cNvSpPr/>
          <p:nvPr/>
        </p:nvSpPr>
        <p:spPr>
          <a:xfrm>
            <a:off x="777240" y="3648456"/>
            <a:ext cx="411480" cy="411480"/>
          </a:xfrm>
          <a:prstGeom prst="ellipse">
            <a:avLst/>
          </a:prstGeom>
          <a:solidFill>
            <a:srgbClr val="50FA7B"/>
          </a:solidFill>
          <a:ln w="12700">
            <a:solidFill>
              <a:srgbClr val="50FA7B"/>
            </a:solidFill>
            <a:prstDash val="solid"/>
          </a:ln>
        </p:spPr>
      </p:sp>
      <p:sp>
        <p:nvSpPr>
          <p:cNvPr id="14" name="Text 12"/>
          <p:cNvSpPr/>
          <p:nvPr/>
        </p:nvSpPr>
        <p:spPr>
          <a:xfrm>
            <a:off x="777240" y="3648456"/>
            <a:ext cx="411480" cy="411480"/>
          </a:xfrm>
          <a:prstGeom prst="rect">
            <a:avLst/>
          </a:prstGeom>
          <a:noFill/>
          <a:ln/>
        </p:spPr>
        <p:txBody>
          <a:bodyPr wrap="square" lIns="0" tIns="0" rIns="0" bIns="0" rtlCol="0" anchor="ctr"/>
          <a:lstStyle/>
          <a:p>
            <a:pPr algn="ctr" indent="0" marL="0">
              <a:buNone/>
            </a:pPr>
            <a:r>
              <a:rPr lang="en-US" sz="1800" b="1" dirty="0">
                <a:solidFill>
                  <a:srgbClr val="0A0A1A"/>
                </a:solidFill>
                <a:latin typeface="Helvetica" pitchFamily="34" charset="0"/>
                <a:ea typeface="Helvetica" pitchFamily="34" charset="-122"/>
                <a:cs typeface="Helvetica" pitchFamily="34" charset="-120"/>
              </a:rPr>
              <a:t>✓</a:t>
            </a:r>
            <a:endParaRPr lang="en-US" sz="1800" dirty="0"/>
          </a:p>
        </p:txBody>
      </p:sp>
      <p:sp>
        <p:nvSpPr>
          <p:cNvPr id="15" name="Text 13"/>
          <p:cNvSpPr/>
          <p:nvPr/>
        </p:nvSpPr>
        <p:spPr>
          <a:xfrm>
            <a:off x="1371600" y="3557016"/>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Real bootable ISO</a:t>
            </a:r>
            <a:endParaRPr lang="en-US" sz="1800" dirty="0"/>
          </a:p>
        </p:txBody>
      </p:sp>
      <p:sp>
        <p:nvSpPr>
          <p:cNvPr id="16" name="Text 14"/>
          <p:cNvSpPr/>
          <p:nvPr/>
        </p:nvSpPr>
        <p:spPr>
          <a:xfrm>
            <a:off x="1371600" y="3904488"/>
            <a:ext cx="5486400" cy="320040"/>
          </a:xfrm>
          <a:prstGeom prst="rect">
            <a:avLst/>
          </a:prstGeom>
          <a:noFill/>
          <a:ln/>
        </p:spPr>
        <p:txBody>
          <a:bodyPr wrap="square" lIns="0" tIns="0" rIns="0" bIns="0" rtlCol="0" anchor="ctr"/>
          <a:lstStyle/>
          <a:p>
            <a:pPr indent="0" marL="0">
              <a:buNone/>
            </a:pPr>
            <a:r>
              <a:rPr lang="en-US" sz="1200" dirty="0">
                <a:solidFill>
                  <a:srgbClr val="6A6A8A"/>
                </a:solidFill>
                <a:latin typeface="Helvetica" pitchFamily="34" charset="0"/>
                <a:ea typeface="Helvetica" pitchFamily="34" charset="-122"/>
                <a:cs typeface="Helvetica" pitchFamily="34" charset="-120"/>
              </a:rPr>
              <a:t>Works on a USB stick</a:t>
            </a:r>
            <a:endParaRPr lang="en-US" sz="1200" dirty="0"/>
          </a:p>
        </p:txBody>
      </p:sp>
      <p:sp>
        <p:nvSpPr>
          <p:cNvPr id="17" name="Shape 15"/>
          <p:cNvSpPr/>
          <p:nvPr/>
        </p:nvSpPr>
        <p:spPr>
          <a:xfrm>
            <a:off x="777240" y="4398264"/>
            <a:ext cx="411480" cy="411480"/>
          </a:xfrm>
          <a:prstGeom prst="ellipse">
            <a:avLst/>
          </a:prstGeom>
          <a:solidFill>
            <a:srgbClr val="50FA7B"/>
          </a:solidFill>
          <a:ln w="12700">
            <a:solidFill>
              <a:srgbClr val="50FA7B"/>
            </a:solidFill>
            <a:prstDash val="solid"/>
          </a:ln>
        </p:spPr>
      </p:sp>
      <p:sp>
        <p:nvSpPr>
          <p:cNvPr id="18" name="Text 16"/>
          <p:cNvSpPr/>
          <p:nvPr/>
        </p:nvSpPr>
        <p:spPr>
          <a:xfrm>
            <a:off x="777240" y="4398264"/>
            <a:ext cx="411480" cy="411480"/>
          </a:xfrm>
          <a:prstGeom prst="rect">
            <a:avLst/>
          </a:prstGeom>
          <a:noFill/>
          <a:ln/>
        </p:spPr>
        <p:txBody>
          <a:bodyPr wrap="square" lIns="0" tIns="0" rIns="0" bIns="0" rtlCol="0" anchor="ctr"/>
          <a:lstStyle/>
          <a:p>
            <a:pPr algn="ctr" indent="0" marL="0">
              <a:buNone/>
            </a:pPr>
            <a:r>
              <a:rPr lang="en-US" sz="1800" b="1" dirty="0">
                <a:solidFill>
                  <a:srgbClr val="0A0A1A"/>
                </a:solidFill>
                <a:latin typeface="Helvetica" pitchFamily="34" charset="0"/>
                <a:ea typeface="Helvetica" pitchFamily="34" charset="-122"/>
                <a:cs typeface="Helvetica" pitchFamily="34" charset="-120"/>
              </a:rPr>
              <a:t>✓</a:t>
            </a:r>
            <a:endParaRPr lang="en-US" sz="1800" dirty="0"/>
          </a:p>
        </p:txBody>
      </p:sp>
      <p:sp>
        <p:nvSpPr>
          <p:cNvPr id="19" name="Text 17"/>
          <p:cNvSpPr/>
          <p:nvPr/>
        </p:nvSpPr>
        <p:spPr>
          <a:xfrm>
            <a:off x="1371600" y="4306824"/>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AI integration</a:t>
            </a:r>
            <a:endParaRPr lang="en-US" sz="1800" dirty="0"/>
          </a:p>
        </p:txBody>
      </p:sp>
      <p:sp>
        <p:nvSpPr>
          <p:cNvPr id="20" name="Text 18"/>
          <p:cNvSpPr/>
          <p:nvPr/>
        </p:nvSpPr>
        <p:spPr>
          <a:xfrm>
            <a:off x="1371600" y="4654296"/>
            <a:ext cx="5486400" cy="320040"/>
          </a:xfrm>
          <a:prstGeom prst="rect">
            <a:avLst/>
          </a:prstGeom>
          <a:noFill/>
          <a:ln/>
        </p:spPr>
        <p:txBody>
          <a:bodyPr wrap="square" lIns="0" tIns="0" rIns="0" bIns="0" rtlCol="0" anchor="ctr"/>
          <a:lstStyle/>
          <a:p>
            <a:pPr indent="0" marL="0">
              <a:buNone/>
            </a:pPr>
            <a:r>
              <a:rPr lang="en-US" sz="1200" dirty="0">
                <a:solidFill>
                  <a:srgbClr val="6A6A8A"/>
                </a:solidFill>
                <a:latin typeface="Helvetica" pitchFamily="34" charset="0"/>
                <a:ea typeface="Helvetica" pitchFamily="34" charset="-122"/>
                <a:cs typeface="Helvetica" pitchFamily="34" charset="-120"/>
              </a:rPr>
              <a:t>Claude + local AI wired into Notes, Spotlight, Terminal</a:t>
            </a:r>
            <a:endParaRPr lang="en-US" sz="1200" dirty="0"/>
          </a:p>
        </p:txBody>
      </p:sp>
      <p:sp>
        <p:nvSpPr>
          <p:cNvPr id="21" name="Shape 19"/>
          <p:cNvSpPr/>
          <p:nvPr/>
        </p:nvSpPr>
        <p:spPr>
          <a:xfrm>
            <a:off x="777240" y="5148072"/>
            <a:ext cx="411480" cy="411480"/>
          </a:xfrm>
          <a:prstGeom prst="ellipse">
            <a:avLst/>
          </a:prstGeom>
          <a:solidFill>
            <a:srgbClr val="50FA7B"/>
          </a:solidFill>
          <a:ln w="12700">
            <a:solidFill>
              <a:srgbClr val="50FA7B"/>
            </a:solidFill>
            <a:prstDash val="solid"/>
          </a:ln>
        </p:spPr>
      </p:sp>
      <p:sp>
        <p:nvSpPr>
          <p:cNvPr id="22" name="Text 20"/>
          <p:cNvSpPr/>
          <p:nvPr/>
        </p:nvSpPr>
        <p:spPr>
          <a:xfrm>
            <a:off x="777240" y="5148072"/>
            <a:ext cx="411480" cy="411480"/>
          </a:xfrm>
          <a:prstGeom prst="rect">
            <a:avLst/>
          </a:prstGeom>
          <a:noFill/>
          <a:ln/>
        </p:spPr>
        <p:txBody>
          <a:bodyPr wrap="square" lIns="0" tIns="0" rIns="0" bIns="0" rtlCol="0" anchor="ctr"/>
          <a:lstStyle/>
          <a:p>
            <a:pPr algn="ctr" indent="0" marL="0">
              <a:buNone/>
            </a:pPr>
            <a:r>
              <a:rPr lang="en-US" sz="1800" b="1" dirty="0">
                <a:solidFill>
                  <a:srgbClr val="0A0A1A"/>
                </a:solidFill>
                <a:latin typeface="Helvetica" pitchFamily="34" charset="0"/>
                <a:ea typeface="Helvetica" pitchFamily="34" charset="-122"/>
                <a:cs typeface="Helvetica" pitchFamily="34" charset="-120"/>
              </a:rPr>
              <a:t>✓</a:t>
            </a:r>
            <a:endParaRPr lang="en-US" sz="1800" dirty="0"/>
          </a:p>
        </p:txBody>
      </p:sp>
      <p:sp>
        <p:nvSpPr>
          <p:cNvPr id="23" name="Text 21"/>
          <p:cNvSpPr/>
          <p:nvPr/>
        </p:nvSpPr>
        <p:spPr>
          <a:xfrm>
            <a:off x="1371600" y="5056632"/>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Vault · files · windows</a:t>
            </a:r>
            <a:endParaRPr lang="en-US" sz="1800" dirty="0"/>
          </a:p>
        </p:txBody>
      </p:sp>
      <p:sp>
        <p:nvSpPr>
          <p:cNvPr id="24" name="Text 22"/>
          <p:cNvSpPr/>
          <p:nvPr/>
        </p:nvSpPr>
        <p:spPr>
          <a:xfrm>
            <a:off x="1371600" y="5404104"/>
            <a:ext cx="5486400" cy="320040"/>
          </a:xfrm>
          <a:prstGeom prst="rect">
            <a:avLst/>
          </a:prstGeom>
          <a:noFill/>
          <a:ln/>
        </p:spPr>
        <p:txBody>
          <a:bodyPr wrap="square" lIns="0" tIns="0" rIns="0" bIns="0" rtlCol="0" anchor="ctr"/>
          <a:lstStyle/>
          <a:p>
            <a:pPr indent="0" marL="0">
              <a:buNone/>
            </a:pPr>
            <a:r>
              <a:rPr lang="en-US" sz="1200" dirty="0">
                <a:solidFill>
                  <a:srgbClr val="6A6A8A"/>
                </a:solidFill>
                <a:latin typeface="Helvetica" pitchFamily="34" charset="0"/>
                <a:ea typeface="Helvetica" pitchFamily="34" charset="-122"/>
                <a:cs typeface="Helvetica" pitchFamily="34" charset="-120"/>
              </a:rPr>
              <a:t>Everything a real OS needs</a:t>
            </a:r>
            <a:endParaRPr lang="en-US" sz="1200" dirty="0"/>
          </a:p>
        </p:txBody>
      </p:sp>
      <p:sp>
        <p:nvSpPr>
          <p:cNvPr id="25" name="Shape 23"/>
          <p:cNvSpPr/>
          <p:nvPr/>
        </p:nvSpPr>
        <p:spPr>
          <a:xfrm>
            <a:off x="7589520" y="1371600"/>
            <a:ext cx="4114800" cy="5029200"/>
          </a:xfrm>
          <a:prstGeom prst="rect">
            <a:avLst/>
          </a:prstGeom>
          <a:solidFill>
            <a:srgbClr val="1C1C3A"/>
          </a:solidFill>
          <a:ln w="25400">
            <a:solidFill>
              <a:srgbClr val="007AFF"/>
            </a:solidFill>
            <a:prstDash val="dash"/>
          </a:ln>
        </p:spPr>
      </p:sp>
      <p:sp>
        <p:nvSpPr>
          <p:cNvPr id="26" name="Text 24"/>
          <p:cNvSpPr/>
          <p:nvPr/>
        </p:nvSpPr>
        <p:spPr>
          <a:xfrm>
            <a:off x="7589520" y="2276856"/>
            <a:ext cx="4114800" cy="822960"/>
          </a:xfrm>
          <a:prstGeom prst="rect">
            <a:avLst/>
          </a:prstGeom>
          <a:noFill/>
          <a:ln/>
        </p:spPr>
        <p:txBody>
          <a:bodyPr wrap="square" lIns="0" tIns="0" rIns="0" bIns="0" rtlCol="0" anchor="ctr"/>
          <a:lstStyle/>
          <a:p>
            <a:pPr algn="ctr" indent="0" marL="0">
              <a:buNone/>
            </a:pPr>
            <a:r>
              <a:rPr lang="en-US" sz="5400" dirty="0">
                <a:solidFill>
                  <a:srgbClr val="007AFF"/>
                </a:solidFill>
                <a:latin typeface="Helvetica" pitchFamily="34" charset="0"/>
                <a:ea typeface="Helvetica" pitchFamily="34" charset="-122"/>
                <a:cs typeface="Helvetica" pitchFamily="34" charset="-120"/>
              </a:rPr>
              <a:t>📷</a:t>
            </a:r>
            <a:endParaRPr lang="en-US" sz="5400" dirty="0"/>
          </a:p>
        </p:txBody>
      </p:sp>
      <p:sp>
        <p:nvSpPr>
          <p:cNvPr id="27" name="Text 25"/>
          <p:cNvSpPr/>
          <p:nvPr/>
        </p:nvSpPr>
        <p:spPr>
          <a:xfrm>
            <a:off x="7589520" y="4137660"/>
            <a:ext cx="4114800" cy="365760"/>
          </a:xfrm>
          <a:prstGeom prst="rect">
            <a:avLst/>
          </a:prstGeom>
          <a:noFill/>
          <a:ln/>
        </p:spPr>
        <p:txBody>
          <a:bodyPr wrap="square" lIns="0" tIns="0" rIns="0" bIns="0" rtlCol="0" anchor="ctr"/>
          <a:lstStyle/>
          <a:p>
            <a:pPr algn="ctr" indent="0" marL="0">
              <a:buNone/>
            </a:pPr>
            <a:r>
              <a:rPr lang="en-US" sz="1400" b="1" spc="300" kern="0" dirty="0">
                <a:solidFill>
                  <a:srgbClr val="007AFF"/>
                </a:solidFill>
                <a:latin typeface="Helvetica" pitchFamily="34" charset="0"/>
                <a:ea typeface="Helvetica" pitchFamily="34" charset="-122"/>
                <a:cs typeface="Helvetica" pitchFamily="34" charset="-120"/>
              </a:rPr>
              <a:t>IMAGE PLACEHOLDER</a:t>
            </a:r>
            <a:endParaRPr lang="en-US" sz="1400" dirty="0"/>
          </a:p>
        </p:txBody>
      </p:sp>
      <p:sp>
        <p:nvSpPr>
          <p:cNvPr id="28" name="Text 26"/>
          <p:cNvSpPr/>
          <p:nvPr/>
        </p:nvSpPr>
        <p:spPr>
          <a:xfrm>
            <a:off x="7863840" y="4791456"/>
            <a:ext cx="3566160" cy="548640"/>
          </a:xfrm>
          <a:prstGeom prst="rect">
            <a:avLst/>
          </a:prstGeom>
          <a:noFill/>
          <a:ln/>
        </p:spPr>
        <p:txBody>
          <a:bodyPr wrap="square" lIns="0" tIns="0" rIns="0" bIns="0" rtlCol="0" anchor="ctr"/>
          <a:lstStyle/>
          <a:p>
            <a:pPr algn="ctr" indent="0" marL="0">
              <a:buNone/>
            </a:pPr>
            <a:r>
              <a:rPr lang="en-US" sz="1200" i="1" dirty="0">
                <a:solidFill>
                  <a:srgbClr val="B8B8D0"/>
                </a:solidFill>
                <a:latin typeface="Helvetica" pitchFamily="34" charset="0"/>
                <a:ea typeface="Helvetica" pitchFamily="34" charset="-122"/>
                <a:cs typeface="Helvetica" pitchFamily="34" charset="-120"/>
              </a:rPr>
              <a:t>drop ISO boot screenshot here</a:t>
            </a:r>
            <a:endParaRPr lang="en-US" sz="1200" dirty="0"/>
          </a:p>
        </p:txBody>
      </p:sp>
      <p:sp>
        <p:nvSpPr>
          <p:cNvPr id="30" name="Shape 27"/>
          <p:cNvSpPr/>
          <p:nvPr/>
        </p:nvSpPr>
        <p:spPr>
          <a:xfrm>
            <a:off x="0" y="6537960"/>
            <a:ext cx="12161520" cy="320040"/>
          </a:xfrm>
          <a:prstGeom prst="rect">
            <a:avLst/>
          </a:prstGeom>
          <a:solidFill>
            <a:srgbClr val="14142B"/>
          </a:solidFill>
          <a:ln w="12700">
            <a:solidFill>
              <a:srgbClr val="14142B"/>
            </a:solidFill>
            <a:prstDash val="solid"/>
          </a:ln>
        </p:spPr>
      </p:sp>
      <p:sp>
        <p:nvSpPr>
          <p:cNvPr id="31" name="Text 28"/>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32" name="Text 29"/>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The Problem I Discovered</a:t>
            </a:r>
            <a:endParaRPr lang="en-US" sz="3200" dirty="0"/>
          </a:p>
        </p:txBody>
      </p:sp>
      <p:sp>
        <p:nvSpPr>
          <p:cNvPr id="4" name="Shape 2"/>
          <p:cNvSpPr/>
          <p:nvPr/>
        </p:nvSpPr>
        <p:spPr>
          <a:xfrm>
            <a:off x="685800" y="1371600"/>
            <a:ext cx="10789920" cy="640080"/>
          </a:xfrm>
          <a:prstGeom prst="rect">
            <a:avLst/>
          </a:prstGeom>
          <a:solidFill>
            <a:srgbClr val="14142B"/>
          </a:solidFill>
          <a:ln w="12700">
            <a:solidFill>
              <a:srgbClr val="F1FA8C"/>
            </a:solidFill>
            <a:prstDash val="solid"/>
          </a:ln>
        </p:spPr>
      </p:sp>
      <p:sp>
        <p:nvSpPr>
          <p:cNvPr id="5" name="Text 3"/>
          <p:cNvSpPr/>
          <p:nvPr/>
        </p:nvSpPr>
        <p:spPr>
          <a:xfrm>
            <a:off x="685800" y="1371600"/>
            <a:ext cx="10789920" cy="640080"/>
          </a:xfrm>
          <a:prstGeom prst="rect">
            <a:avLst/>
          </a:prstGeom>
          <a:noFill/>
          <a:ln/>
        </p:spPr>
        <p:txBody>
          <a:bodyPr wrap="square" lIns="0" tIns="0" rIns="0" bIns="0" rtlCol="0" anchor="ctr"/>
          <a:lstStyle/>
          <a:p>
            <a:pPr algn="ctr" indent="0" marL="0">
              <a:buNone/>
            </a:pPr>
            <a:r>
              <a:rPr lang="en-US" sz="2000" i="1" dirty="0">
                <a:solidFill>
                  <a:srgbClr val="F1FA8C"/>
                </a:solidFill>
                <a:latin typeface="Helvetica" pitchFamily="34" charset="0"/>
                <a:ea typeface="Helvetica" pitchFamily="34" charset="-122"/>
                <a:cs typeface="Helvetica" pitchFamily="34" charset="-120"/>
              </a:rPr>
              <a:t>I did an honest audit of my own plan. It failed.</a:t>
            </a:r>
            <a:endParaRPr lang="en-US" sz="2000" dirty="0"/>
          </a:p>
        </p:txBody>
      </p:sp>
      <p:sp>
        <p:nvSpPr>
          <p:cNvPr id="6" name="Text 4"/>
          <p:cNvSpPr/>
          <p:nvPr/>
        </p:nvSpPr>
        <p:spPr>
          <a:xfrm>
            <a:off x="685800" y="2194560"/>
            <a:ext cx="10789920" cy="731520"/>
          </a:xfrm>
          <a:prstGeom prst="rect">
            <a:avLst/>
          </a:prstGeom>
          <a:noFill/>
          <a:ln/>
        </p:spPr>
        <p:txBody>
          <a:bodyPr wrap="square" lIns="0" tIns="0" rIns="0" bIns="0" rtlCol="0" anchor="ctr"/>
          <a:lstStyle/>
          <a:p>
            <a:pPr algn="ctr" indent="0" marL="0">
              <a:buNone/>
            </a:pPr>
            <a:r>
              <a:rPr lang="en-US" sz="1600" dirty="0">
                <a:solidFill>
                  <a:srgbClr val="B8B8D0"/>
                </a:solidFill>
                <a:latin typeface="Helvetica" pitchFamily="34" charset="0"/>
                <a:ea typeface="Helvetica" pitchFamily="34" charset="-122"/>
                <a:cs typeface="Helvetica" pitchFamily="34" charset="-120"/>
              </a:rPr>
              <a:t>I was building a really nice copy of macOS with Claude bolted on the side. That's not an AI-native OS — it's an old OS with an AI feature.</a:t>
            </a:r>
            <a:endParaRPr lang="en-US" sz="1600" dirty="0"/>
          </a:p>
        </p:txBody>
      </p:sp>
      <p:sp>
        <p:nvSpPr>
          <p:cNvPr id="7" name="Text 5"/>
          <p:cNvSpPr/>
          <p:nvPr/>
        </p:nvSpPr>
        <p:spPr>
          <a:xfrm>
            <a:off x="685800" y="3063240"/>
            <a:ext cx="1078992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3 biggest holes</a:t>
            </a:r>
            <a:endParaRPr lang="en-US" sz="2000" dirty="0"/>
          </a:p>
        </p:txBody>
      </p:sp>
      <p:sp>
        <p:nvSpPr>
          <p:cNvPr id="8" name="Shape 6"/>
          <p:cNvSpPr/>
          <p:nvPr/>
        </p:nvSpPr>
        <p:spPr>
          <a:xfrm>
            <a:off x="388620" y="3566160"/>
            <a:ext cx="3611880" cy="2377440"/>
          </a:xfrm>
          <a:prstGeom prst="rect">
            <a:avLst/>
          </a:prstGeom>
          <a:solidFill>
            <a:srgbClr val="14142B"/>
          </a:solidFill>
          <a:ln w="12700">
            <a:solidFill>
              <a:srgbClr val="FF5555"/>
            </a:solidFill>
            <a:prstDash val="solid"/>
          </a:ln>
        </p:spPr>
      </p:sp>
      <p:sp>
        <p:nvSpPr>
          <p:cNvPr id="9" name="Text 7"/>
          <p:cNvSpPr/>
          <p:nvPr/>
        </p:nvSpPr>
        <p:spPr>
          <a:xfrm>
            <a:off x="571500" y="3703320"/>
            <a:ext cx="731520" cy="731520"/>
          </a:xfrm>
          <a:prstGeom prst="rect">
            <a:avLst/>
          </a:prstGeom>
          <a:noFill/>
          <a:ln/>
        </p:spPr>
        <p:txBody>
          <a:bodyPr wrap="square" lIns="0" tIns="0" rIns="0" bIns="0" rtlCol="0" anchor="ctr"/>
          <a:lstStyle/>
          <a:p>
            <a:pPr indent="0" marL="0">
              <a:buNone/>
            </a:pPr>
            <a:r>
              <a:rPr lang="en-US" sz="4400" b="1" dirty="0">
                <a:solidFill>
                  <a:srgbClr val="FF5555"/>
                </a:solidFill>
                <a:latin typeface="Helvetica" pitchFamily="34" charset="0"/>
                <a:ea typeface="Helvetica" pitchFamily="34" charset="-122"/>
                <a:cs typeface="Helvetica" pitchFamily="34" charset="-120"/>
              </a:rPr>
              <a:t>1</a:t>
            </a:r>
            <a:endParaRPr lang="en-US" sz="4400" dirty="0"/>
          </a:p>
        </p:txBody>
      </p:sp>
      <p:sp>
        <p:nvSpPr>
          <p:cNvPr id="10" name="Text 8"/>
          <p:cNvSpPr/>
          <p:nvPr/>
        </p:nvSpPr>
        <p:spPr>
          <a:xfrm>
            <a:off x="571500" y="4480560"/>
            <a:ext cx="3246120" cy="457200"/>
          </a:xfrm>
          <a:prstGeom prst="rect">
            <a:avLst/>
          </a:prstGeom>
          <a:noFill/>
          <a:ln/>
        </p:spPr>
        <p:txBody>
          <a:bodyPr wrap="square" lIns="0" tIns="0" rIns="0" bIns="0"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51 apps is a trap</a:t>
            </a:r>
            <a:endParaRPr lang="en-US" sz="1700" dirty="0"/>
          </a:p>
        </p:txBody>
      </p:sp>
      <p:sp>
        <p:nvSpPr>
          <p:cNvPr id="11" name="Text 9"/>
          <p:cNvSpPr/>
          <p:nvPr/>
        </p:nvSpPr>
        <p:spPr>
          <a:xfrm>
            <a:off x="571500" y="4937760"/>
            <a:ext cx="3246120" cy="1005840"/>
          </a:xfrm>
          <a:prstGeom prst="rect">
            <a:avLst/>
          </a:prstGeom>
          <a:noFill/>
          <a:ln/>
        </p:spPr>
        <p:txBody>
          <a:bodyPr wrap="square" lIns="0" tIns="0" rIns="0" bIns="0" rtlCol="0" anchor="ctr"/>
          <a:lstStyle/>
          <a:p>
            <a:pPr indent="0" marL="0">
              <a:buNone/>
            </a:pPr>
            <a:r>
              <a:rPr lang="en-US" sz="1300" dirty="0">
                <a:solidFill>
                  <a:srgbClr val="B8B8D0"/>
                </a:solidFill>
                <a:latin typeface="Helvetica" pitchFamily="34" charset="0"/>
                <a:ea typeface="Helvetica" pitchFamily="34" charset="-122"/>
                <a:cs typeface="Helvetica" pitchFamily="34" charset="-120"/>
              </a:rPr>
              <a:t>Every app is homework the AI will have to re-learn later</a:t>
            </a:r>
            <a:endParaRPr lang="en-US" sz="1300" dirty="0"/>
          </a:p>
        </p:txBody>
      </p:sp>
      <p:sp>
        <p:nvSpPr>
          <p:cNvPr id="12" name="Shape 10"/>
          <p:cNvSpPr/>
          <p:nvPr/>
        </p:nvSpPr>
        <p:spPr>
          <a:xfrm>
            <a:off x="4274820" y="3566160"/>
            <a:ext cx="3611880" cy="2377440"/>
          </a:xfrm>
          <a:prstGeom prst="rect">
            <a:avLst/>
          </a:prstGeom>
          <a:solidFill>
            <a:srgbClr val="14142B"/>
          </a:solidFill>
          <a:ln w="12700">
            <a:solidFill>
              <a:srgbClr val="FF5555"/>
            </a:solidFill>
            <a:prstDash val="solid"/>
          </a:ln>
        </p:spPr>
      </p:sp>
      <p:sp>
        <p:nvSpPr>
          <p:cNvPr id="13" name="Text 11"/>
          <p:cNvSpPr/>
          <p:nvPr/>
        </p:nvSpPr>
        <p:spPr>
          <a:xfrm>
            <a:off x="4457700" y="3703320"/>
            <a:ext cx="731520" cy="731520"/>
          </a:xfrm>
          <a:prstGeom prst="rect">
            <a:avLst/>
          </a:prstGeom>
          <a:noFill/>
          <a:ln/>
        </p:spPr>
        <p:txBody>
          <a:bodyPr wrap="square" lIns="0" tIns="0" rIns="0" bIns="0" rtlCol="0" anchor="ctr"/>
          <a:lstStyle/>
          <a:p>
            <a:pPr indent="0" marL="0">
              <a:buNone/>
            </a:pPr>
            <a:r>
              <a:rPr lang="en-US" sz="4400" b="1" dirty="0">
                <a:solidFill>
                  <a:srgbClr val="FF5555"/>
                </a:solidFill>
                <a:latin typeface="Helvetica" pitchFamily="34" charset="0"/>
                <a:ea typeface="Helvetica" pitchFamily="34" charset="-122"/>
                <a:cs typeface="Helvetica" pitchFamily="34" charset="-120"/>
              </a:rPr>
              <a:t>2</a:t>
            </a:r>
            <a:endParaRPr lang="en-US" sz="4400" dirty="0"/>
          </a:p>
        </p:txBody>
      </p:sp>
      <p:sp>
        <p:nvSpPr>
          <p:cNvPr id="14" name="Text 12"/>
          <p:cNvSpPr/>
          <p:nvPr/>
        </p:nvSpPr>
        <p:spPr>
          <a:xfrm>
            <a:off x="4457700" y="4480560"/>
            <a:ext cx="3246120" cy="457200"/>
          </a:xfrm>
          <a:prstGeom prst="rect">
            <a:avLst/>
          </a:prstGeom>
          <a:noFill/>
          <a:ln/>
        </p:spPr>
        <p:txBody>
          <a:bodyPr wrap="square" lIns="0" tIns="0" rIns="0" bIns="0"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Self-learning was fake</a:t>
            </a:r>
            <a:endParaRPr lang="en-US" sz="1700" dirty="0"/>
          </a:p>
        </p:txBody>
      </p:sp>
      <p:sp>
        <p:nvSpPr>
          <p:cNvPr id="15" name="Text 13"/>
          <p:cNvSpPr/>
          <p:nvPr/>
        </p:nvSpPr>
        <p:spPr>
          <a:xfrm>
            <a:off x="4457700" y="4937760"/>
            <a:ext cx="3246120" cy="1005840"/>
          </a:xfrm>
          <a:prstGeom prst="rect">
            <a:avLst/>
          </a:prstGeom>
          <a:noFill/>
          <a:ln/>
        </p:spPr>
        <p:txBody>
          <a:bodyPr wrap="square" lIns="0" tIns="0" rIns="0" bIns="0" rtlCol="0" anchor="ctr"/>
          <a:lstStyle/>
          <a:p>
            <a:pPr indent="0" marL="0">
              <a:buNone/>
            </a:pPr>
            <a:r>
              <a:rPr lang="en-US" sz="1300" dirty="0">
                <a:solidFill>
                  <a:srgbClr val="B8B8D0"/>
                </a:solidFill>
                <a:latin typeface="Helvetica" pitchFamily="34" charset="0"/>
                <a:ea typeface="Helvetica" pitchFamily="34" charset="-122"/>
                <a:cs typeface="Helvetica" pitchFamily="34" charset="-120"/>
              </a:rPr>
              <a:t>I was taking notes, not actually getting smarter</a:t>
            </a:r>
            <a:endParaRPr lang="en-US" sz="1300" dirty="0"/>
          </a:p>
        </p:txBody>
      </p:sp>
      <p:sp>
        <p:nvSpPr>
          <p:cNvPr id="16" name="Shape 14"/>
          <p:cNvSpPr/>
          <p:nvPr/>
        </p:nvSpPr>
        <p:spPr>
          <a:xfrm>
            <a:off x="8161020" y="3566160"/>
            <a:ext cx="3611880" cy="2377440"/>
          </a:xfrm>
          <a:prstGeom prst="rect">
            <a:avLst/>
          </a:prstGeom>
          <a:solidFill>
            <a:srgbClr val="14142B"/>
          </a:solidFill>
          <a:ln w="12700">
            <a:solidFill>
              <a:srgbClr val="FF5555"/>
            </a:solidFill>
            <a:prstDash val="solid"/>
          </a:ln>
        </p:spPr>
      </p:sp>
      <p:sp>
        <p:nvSpPr>
          <p:cNvPr id="17" name="Text 15"/>
          <p:cNvSpPr/>
          <p:nvPr/>
        </p:nvSpPr>
        <p:spPr>
          <a:xfrm>
            <a:off x="8343900" y="3703320"/>
            <a:ext cx="731520" cy="731520"/>
          </a:xfrm>
          <a:prstGeom prst="rect">
            <a:avLst/>
          </a:prstGeom>
          <a:noFill/>
          <a:ln/>
        </p:spPr>
        <p:txBody>
          <a:bodyPr wrap="square" lIns="0" tIns="0" rIns="0" bIns="0" rtlCol="0" anchor="ctr"/>
          <a:lstStyle/>
          <a:p>
            <a:pPr indent="0" marL="0">
              <a:buNone/>
            </a:pPr>
            <a:r>
              <a:rPr lang="en-US" sz="4400" b="1" dirty="0">
                <a:solidFill>
                  <a:srgbClr val="FF5555"/>
                </a:solidFill>
                <a:latin typeface="Helvetica" pitchFamily="34" charset="0"/>
                <a:ea typeface="Helvetica" pitchFamily="34" charset="-122"/>
                <a:cs typeface="Helvetica" pitchFamily="34" charset="-120"/>
              </a:rPr>
              <a:t>3</a:t>
            </a:r>
            <a:endParaRPr lang="en-US" sz="4400" dirty="0"/>
          </a:p>
        </p:txBody>
      </p:sp>
      <p:sp>
        <p:nvSpPr>
          <p:cNvPr id="18" name="Text 16"/>
          <p:cNvSpPr/>
          <p:nvPr/>
        </p:nvSpPr>
        <p:spPr>
          <a:xfrm>
            <a:off x="8343900" y="4480560"/>
            <a:ext cx="3246120" cy="457200"/>
          </a:xfrm>
          <a:prstGeom prst="rect">
            <a:avLst/>
          </a:prstGeom>
          <a:noFill/>
          <a:ln/>
        </p:spPr>
        <p:txBody>
          <a:bodyPr wrap="square" lIns="0" tIns="0" rIns="0" bIns="0"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No safety story</a:t>
            </a:r>
            <a:endParaRPr lang="en-US" sz="1700" dirty="0"/>
          </a:p>
        </p:txBody>
      </p:sp>
      <p:sp>
        <p:nvSpPr>
          <p:cNvPr id="19" name="Text 17"/>
          <p:cNvSpPr/>
          <p:nvPr/>
        </p:nvSpPr>
        <p:spPr>
          <a:xfrm>
            <a:off x="8343900" y="4937760"/>
            <a:ext cx="3246120" cy="1005840"/>
          </a:xfrm>
          <a:prstGeom prst="rect">
            <a:avLst/>
          </a:prstGeom>
          <a:noFill/>
          <a:ln/>
        </p:spPr>
        <p:txBody>
          <a:bodyPr wrap="square" lIns="0" tIns="0" rIns="0" bIns="0" rtlCol="0" anchor="ctr"/>
          <a:lstStyle/>
          <a:p>
            <a:pPr indent="0" marL="0">
              <a:buNone/>
            </a:pPr>
            <a:r>
              <a:rPr lang="en-US" sz="1300" dirty="0">
                <a:solidFill>
                  <a:srgbClr val="B8B8D0"/>
                </a:solidFill>
                <a:latin typeface="Helvetica" pitchFamily="34" charset="0"/>
                <a:ea typeface="Helvetica" pitchFamily="34" charset="-122"/>
                <a:cs typeface="Helvetica" pitchFamily="34" charset="-120"/>
              </a:rPr>
              <a:t>Nothing to stop things going wrong as AI gets stronger</a:t>
            </a:r>
            <a:endParaRPr lang="en-US" sz="1300" dirty="0"/>
          </a:p>
        </p:txBody>
      </p:sp>
      <p:sp>
        <p:nvSpPr>
          <p:cNvPr id="21" name="Shape 18"/>
          <p:cNvSpPr/>
          <p:nvPr/>
        </p:nvSpPr>
        <p:spPr>
          <a:xfrm>
            <a:off x="0" y="6537960"/>
            <a:ext cx="12161520" cy="320040"/>
          </a:xfrm>
          <a:prstGeom prst="rect">
            <a:avLst/>
          </a:prstGeom>
          <a:solidFill>
            <a:srgbClr val="14142B"/>
          </a:solidFill>
          <a:ln w="12700">
            <a:solidFill>
              <a:srgbClr val="14142B"/>
            </a:solidFill>
            <a:prstDash val="solid"/>
          </a:ln>
        </p:spPr>
      </p:sp>
      <p:sp>
        <p:nvSpPr>
          <p:cNvPr id="22" name="Text 19"/>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23" name="Text 20"/>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The Fix: 3 Big Ideas</a:t>
            </a:r>
            <a:endParaRPr lang="en-US" sz="3200" dirty="0"/>
          </a:p>
        </p:txBody>
      </p:sp>
      <p:sp>
        <p:nvSpPr>
          <p:cNvPr id="4" name="Text 2"/>
          <p:cNvSpPr/>
          <p:nvPr/>
        </p:nvSpPr>
        <p:spPr>
          <a:xfrm>
            <a:off x="685800" y="1371600"/>
            <a:ext cx="10789920" cy="457200"/>
          </a:xfrm>
          <a:prstGeom prst="rect">
            <a:avLst/>
          </a:prstGeom>
          <a:noFill/>
          <a:ln/>
        </p:spPr>
        <p:txBody>
          <a:bodyPr wrap="square" lIns="0" tIns="0" rIns="0" bIns="0" rtlCol="0" anchor="ctr"/>
          <a:lstStyle/>
          <a:p>
            <a:pPr indent="0" marL="0">
              <a:buNone/>
            </a:pPr>
            <a:r>
              <a:rPr lang="en-US" sz="2000" i="1" dirty="0">
                <a:solidFill>
                  <a:srgbClr val="B8B8D0"/>
                </a:solidFill>
                <a:latin typeface="Helvetica" pitchFamily="34" charset="0"/>
                <a:ea typeface="Helvetica" pitchFamily="34" charset="-122"/>
                <a:cs typeface="Helvetica" pitchFamily="34" charset="-120"/>
              </a:rPr>
              <a:t>I rewrote the whole plan around three ideas.</a:t>
            </a:r>
            <a:endParaRPr lang="en-US" sz="2000" dirty="0"/>
          </a:p>
        </p:txBody>
      </p:sp>
      <p:sp>
        <p:nvSpPr>
          <p:cNvPr id="5" name="Shape 3"/>
          <p:cNvSpPr/>
          <p:nvPr/>
        </p:nvSpPr>
        <p:spPr>
          <a:xfrm>
            <a:off x="685800" y="2011680"/>
            <a:ext cx="3413760" cy="4297680"/>
          </a:xfrm>
          <a:prstGeom prst="rect">
            <a:avLst/>
          </a:prstGeom>
          <a:solidFill>
            <a:srgbClr val="14142B"/>
          </a:solidFill>
          <a:ln w="25400">
            <a:solidFill>
              <a:srgbClr val="007AFF"/>
            </a:solidFill>
            <a:prstDash val="solid"/>
          </a:ln>
        </p:spPr>
      </p:sp>
      <p:sp>
        <p:nvSpPr>
          <p:cNvPr id="6" name="Shape 4"/>
          <p:cNvSpPr/>
          <p:nvPr/>
        </p:nvSpPr>
        <p:spPr>
          <a:xfrm>
            <a:off x="960120" y="2240280"/>
            <a:ext cx="731520" cy="731520"/>
          </a:xfrm>
          <a:prstGeom prst="ellipse">
            <a:avLst/>
          </a:prstGeom>
          <a:solidFill>
            <a:srgbClr val="007AFF"/>
          </a:solidFill>
          <a:ln w="12700">
            <a:solidFill>
              <a:srgbClr val="007AFF"/>
            </a:solidFill>
            <a:prstDash val="solid"/>
          </a:ln>
        </p:spPr>
      </p:sp>
      <p:sp>
        <p:nvSpPr>
          <p:cNvPr id="7" name="Text 5"/>
          <p:cNvSpPr/>
          <p:nvPr/>
        </p:nvSpPr>
        <p:spPr>
          <a:xfrm>
            <a:off x="960120" y="2240280"/>
            <a:ext cx="731520" cy="731520"/>
          </a:xfrm>
          <a:prstGeom prst="rect">
            <a:avLst/>
          </a:prstGeom>
          <a:noFill/>
          <a:ln/>
        </p:spPr>
        <p:txBody>
          <a:bodyPr wrap="square" lIns="0" tIns="0" rIns="0" bIns="0" rtlCol="0" anchor="ctr"/>
          <a:lstStyle/>
          <a:p>
            <a:pPr algn="ctr" indent="0" marL="0">
              <a:buNone/>
            </a:pPr>
            <a:r>
              <a:rPr lang="en-US" sz="2800" b="1" dirty="0">
                <a:solidFill>
                  <a:srgbClr val="0A0A1A"/>
                </a:solidFill>
                <a:latin typeface="Helvetica" pitchFamily="34" charset="0"/>
                <a:ea typeface="Helvetica" pitchFamily="34" charset="-122"/>
                <a:cs typeface="Helvetica" pitchFamily="34" charset="-120"/>
              </a:rPr>
              <a:t>1</a:t>
            </a:r>
            <a:endParaRPr lang="en-US" sz="2800" dirty="0"/>
          </a:p>
        </p:txBody>
      </p:sp>
      <p:sp>
        <p:nvSpPr>
          <p:cNvPr id="8" name="Text 6"/>
          <p:cNvSpPr/>
          <p:nvPr/>
        </p:nvSpPr>
        <p:spPr>
          <a:xfrm>
            <a:off x="960120" y="3108960"/>
            <a:ext cx="2865120" cy="1005840"/>
          </a:xfrm>
          <a:prstGeom prst="rect">
            <a:avLst/>
          </a:prstGeom>
          <a:noFill/>
          <a:ln/>
        </p:spPr>
        <p:txBody>
          <a:bodyPr wrap="square" lIns="0" tIns="0" rIns="0" bIns="0" rtlCol="0" anchor="ctr"/>
          <a:lstStyle/>
          <a:p>
            <a:pPr indent="0" marL="0">
              <a:buNone/>
            </a:pPr>
            <a:r>
              <a:rPr lang="en-US" sz="2200" b="1" dirty="0">
                <a:solidFill>
                  <a:srgbClr val="FFFFFF"/>
                </a:solidFill>
                <a:latin typeface="Helvetica" pitchFamily="34" charset="0"/>
                <a:ea typeface="Helvetica" pitchFamily="34" charset="-122"/>
                <a:cs typeface="Helvetica" pitchFamily="34" charset="-120"/>
              </a:rPr>
              <a:t>The Intent Kernel</a:t>
            </a:r>
            <a:endParaRPr lang="en-US" sz="2200" dirty="0"/>
          </a:p>
        </p:txBody>
      </p:sp>
      <p:sp>
        <p:nvSpPr>
          <p:cNvPr id="9" name="Text 7"/>
          <p:cNvSpPr/>
          <p:nvPr/>
        </p:nvSpPr>
        <p:spPr>
          <a:xfrm>
            <a:off x="960120" y="4114800"/>
            <a:ext cx="2865120" cy="1920240"/>
          </a:xfrm>
          <a:prstGeom prst="rect">
            <a:avLst/>
          </a:prstGeom>
          <a:noFill/>
          <a:ln/>
        </p:spPr>
        <p:txBody>
          <a:bodyPr wrap="square" lIns="0" tIns="0" rIns="0" bIns="0" rtlCol="0" anchor="ctr"/>
          <a:lstStyle/>
          <a:p>
            <a:pPr indent="0" marL="0">
              <a:buNone/>
            </a:pPr>
            <a:r>
              <a:rPr lang="en-US" sz="1400" dirty="0">
                <a:solidFill>
                  <a:srgbClr val="B8B8D0"/>
                </a:solidFill>
                <a:latin typeface="Helvetica" pitchFamily="34" charset="0"/>
                <a:ea typeface="Helvetica" pitchFamily="34" charset="-122"/>
                <a:cs typeface="Helvetica" pitchFamily="34" charset="-120"/>
              </a:rPr>
              <a:t>You tell it what you WANT, not what to do. It figures out the steps.</a:t>
            </a:r>
            <a:endParaRPr lang="en-US" sz="1400" dirty="0"/>
          </a:p>
        </p:txBody>
      </p:sp>
      <p:sp>
        <p:nvSpPr>
          <p:cNvPr id="10" name="Shape 8"/>
          <p:cNvSpPr/>
          <p:nvPr/>
        </p:nvSpPr>
        <p:spPr>
          <a:xfrm>
            <a:off x="4373880" y="2011680"/>
            <a:ext cx="3413760" cy="4297680"/>
          </a:xfrm>
          <a:prstGeom prst="rect">
            <a:avLst/>
          </a:prstGeom>
          <a:solidFill>
            <a:srgbClr val="14142B"/>
          </a:solidFill>
          <a:ln w="25400">
            <a:solidFill>
              <a:srgbClr val="8BE9FD"/>
            </a:solidFill>
            <a:prstDash val="solid"/>
          </a:ln>
        </p:spPr>
      </p:sp>
      <p:sp>
        <p:nvSpPr>
          <p:cNvPr id="11" name="Shape 9"/>
          <p:cNvSpPr/>
          <p:nvPr/>
        </p:nvSpPr>
        <p:spPr>
          <a:xfrm>
            <a:off x="4648200" y="2240280"/>
            <a:ext cx="731520" cy="731520"/>
          </a:xfrm>
          <a:prstGeom prst="ellipse">
            <a:avLst/>
          </a:prstGeom>
          <a:solidFill>
            <a:srgbClr val="8BE9FD"/>
          </a:solidFill>
          <a:ln w="12700">
            <a:solidFill>
              <a:srgbClr val="8BE9FD"/>
            </a:solidFill>
            <a:prstDash val="solid"/>
          </a:ln>
        </p:spPr>
      </p:sp>
      <p:sp>
        <p:nvSpPr>
          <p:cNvPr id="12" name="Text 10"/>
          <p:cNvSpPr/>
          <p:nvPr/>
        </p:nvSpPr>
        <p:spPr>
          <a:xfrm>
            <a:off x="4648200" y="2240280"/>
            <a:ext cx="731520" cy="731520"/>
          </a:xfrm>
          <a:prstGeom prst="rect">
            <a:avLst/>
          </a:prstGeom>
          <a:noFill/>
          <a:ln/>
        </p:spPr>
        <p:txBody>
          <a:bodyPr wrap="square" lIns="0" tIns="0" rIns="0" bIns="0" rtlCol="0" anchor="ctr"/>
          <a:lstStyle/>
          <a:p>
            <a:pPr algn="ctr" indent="0" marL="0">
              <a:buNone/>
            </a:pPr>
            <a:r>
              <a:rPr lang="en-US" sz="2800" b="1" dirty="0">
                <a:solidFill>
                  <a:srgbClr val="0A0A1A"/>
                </a:solidFill>
                <a:latin typeface="Helvetica" pitchFamily="34" charset="0"/>
                <a:ea typeface="Helvetica" pitchFamily="34" charset="-122"/>
                <a:cs typeface="Helvetica" pitchFamily="34" charset="-120"/>
              </a:rPr>
              <a:t>2</a:t>
            </a:r>
            <a:endParaRPr lang="en-US" sz="2800" dirty="0"/>
          </a:p>
        </p:txBody>
      </p:sp>
      <p:sp>
        <p:nvSpPr>
          <p:cNvPr id="13" name="Text 11"/>
          <p:cNvSpPr/>
          <p:nvPr/>
        </p:nvSpPr>
        <p:spPr>
          <a:xfrm>
            <a:off x="4648200" y="3108960"/>
            <a:ext cx="2865120" cy="1005840"/>
          </a:xfrm>
          <a:prstGeom prst="rect">
            <a:avLst/>
          </a:prstGeom>
          <a:noFill/>
          <a:ln/>
        </p:spPr>
        <p:txBody>
          <a:bodyPr wrap="square" lIns="0" tIns="0" rIns="0" bIns="0" rtlCol="0" anchor="ctr"/>
          <a:lstStyle/>
          <a:p>
            <a:pPr indent="0" marL="0">
              <a:buNone/>
            </a:pPr>
            <a:r>
              <a:rPr lang="en-US" sz="2200" b="1" dirty="0">
                <a:solidFill>
                  <a:srgbClr val="FFFFFF"/>
                </a:solidFill>
                <a:latin typeface="Helvetica" pitchFamily="34" charset="0"/>
                <a:ea typeface="Helvetica" pitchFamily="34" charset="-122"/>
                <a:cs typeface="Helvetica" pitchFamily="34" charset="-120"/>
              </a:rPr>
              <a:t>The Dual-Process Brain</a:t>
            </a:r>
            <a:endParaRPr lang="en-US" sz="2200" dirty="0"/>
          </a:p>
        </p:txBody>
      </p:sp>
      <p:sp>
        <p:nvSpPr>
          <p:cNvPr id="14" name="Text 12"/>
          <p:cNvSpPr/>
          <p:nvPr/>
        </p:nvSpPr>
        <p:spPr>
          <a:xfrm>
            <a:off x="4648200" y="4114800"/>
            <a:ext cx="2865120" cy="1920240"/>
          </a:xfrm>
          <a:prstGeom prst="rect">
            <a:avLst/>
          </a:prstGeom>
          <a:noFill/>
          <a:ln/>
        </p:spPr>
        <p:txBody>
          <a:bodyPr wrap="square" lIns="0" tIns="0" rIns="0" bIns="0" rtlCol="0" anchor="ctr"/>
          <a:lstStyle/>
          <a:p>
            <a:pPr indent="0" marL="0">
              <a:buNone/>
            </a:pPr>
            <a:r>
              <a:rPr lang="en-US" sz="1400" dirty="0">
                <a:solidFill>
                  <a:srgbClr val="B8B8D0"/>
                </a:solidFill>
                <a:latin typeface="Helvetica" pitchFamily="34" charset="0"/>
                <a:ea typeface="Helvetica" pitchFamily="34" charset="-122"/>
                <a:cs typeface="Helvetica" pitchFamily="34" charset="-120"/>
              </a:rPr>
              <a:t>A little brain that's always on (fast, on your computer). A big brain that wakes up for hard stuff (careful, slow).</a:t>
            </a:r>
            <a:endParaRPr lang="en-US" sz="1400" dirty="0"/>
          </a:p>
        </p:txBody>
      </p:sp>
      <p:sp>
        <p:nvSpPr>
          <p:cNvPr id="15" name="Shape 13"/>
          <p:cNvSpPr/>
          <p:nvPr/>
        </p:nvSpPr>
        <p:spPr>
          <a:xfrm>
            <a:off x="4648200" y="5669280"/>
            <a:ext cx="1280160" cy="411480"/>
          </a:xfrm>
          <a:prstGeom prst="roundRect">
            <a:avLst>
              <a:gd name="adj" fmla="val 48889"/>
            </a:avLst>
          </a:prstGeom>
          <a:solidFill>
            <a:srgbClr val="0A0A1A"/>
          </a:solidFill>
          <a:ln w="12700">
            <a:solidFill>
              <a:srgbClr val="8BE9FD"/>
            </a:solidFill>
            <a:prstDash val="solid"/>
          </a:ln>
        </p:spPr>
      </p:sp>
      <p:sp>
        <p:nvSpPr>
          <p:cNvPr id="16" name="Text 14"/>
          <p:cNvSpPr/>
          <p:nvPr/>
        </p:nvSpPr>
        <p:spPr>
          <a:xfrm>
            <a:off x="4648200" y="5669280"/>
            <a:ext cx="1280160" cy="411480"/>
          </a:xfrm>
          <a:prstGeom prst="rect">
            <a:avLst/>
          </a:prstGeom>
          <a:noFill/>
          <a:ln/>
        </p:spPr>
        <p:txBody>
          <a:bodyPr wrap="square" lIns="0" tIns="0" rIns="0" bIns="0" rtlCol="0" anchor="ctr"/>
          <a:lstStyle/>
          <a:p>
            <a:pPr algn="ctr" indent="0" marL="0">
              <a:buNone/>
            </a:pPr>
            <a:r>
              <a:rPr lang="en-US" sz="1100" b="1" spc="100" kern="0" dirty="0">
                <a:solidFill>
                  <a:srgbClr val="8BE9FD"/>
                </a:solidFill>
                <a:latin typeface="Helvetica" pitchFamily="34" charset="0"/>
                <a:ea typeface="Helvetica" pitchFamily="34" charset="-122"/>
                <a:cs typeface="Helvetica" pitchFamily="34" charset="-120"/>
              </a:rPr>
              <a:t>S1 · local</a:t>
            </a:r>
            <a:endParaRPr lang="en-US" sz="1100" dirty="0"/>
          </a:p>
        </p:txBody>
      </p:sp>
      <p:sp>
        <p:nvSpPr>
          <p:cNvPr id="17" name="Shape 15"/>
          <p:cNvSpPr/>
          <p:nvPr/>
        </p:nvSpPr>
        <p:spPr>
          <a:xfrm>
            <a:off x="6019800" y="5669280"/>
            <a:ext cx="1280160" cy="411480"/>
          </a:xfrm>
          <a:prstGeom prst="roundRect">
            <a:avLst>
              <a:gd name="adj" fmla="val 48889"/>
            </a:avLst>
          </a:prstGeom>
          <a:solidFill>
            <a:srgbClr val="0A0A1A"/>
          </a:solidFill>
          <a:ln w="12700">
            <a:solidFill>
              <a:srgbClr val="BD93F9"/>
            </a:solidFill>
            <a:prstDash val="solid"/>
          </a:ln>
        </p:spPr>
      </p:sp>
      <p:sp>
        <p:nvSpPr>
          <p:cNvPr id="18" name="Text 16"/>
          <p:cNvSpPr/>
          <p:nvPr/>
        </p:nvSpPr>
        <p:spPr>
          <a:xfrm>
            <a:off x="6019800" y="5669280"/>
            <a:ext cx="1280160" cy="411480"/>
          </a:xfrm>
          <a:prstGeom prst="rect">
            <a:avLst/>
          </a:prstGeom>
          <a:noFill/>
          <a:ln/>
        </p:spPr>
        <p:txBody>
          <a:bodyPr wrap="square" lIns="0" tIns="0" rIns="0" bIns="0" rtlCol="0" anchor="ctr"/>
          <a:lstStyle/>
          <a:p>
            <a:pPr algn="ctr" indent="0" marL="0">
              <a:buNone/>
            </a:pPr>
            <a:r>
              <a:rPr lang="en-US" sz="1100" b="1" spc="100" kern="0" dirty="0">
                <a:solidFill>
                  <a:srgbClr val="BD93F9"/>
                </a:solidFill>
                <a:latin typeface="Helvetica" pitchFamily="34" charset="0"/>
                <a:ea typeface="Helvetica" pitchFamily="34" charset="-122"/>
                <a:cs typeface="Helvetica" pitchFamily="34" charset="-120"/>
              </a:rPr>
              <a:t>S2 · cloud</a:t>
            </a:r>
            <a:endParaRPr lang="en-US" sz="1100" dirty="0"/>
          </a:p>
        </p:txBody>
      </p:sp>
      <p:sp>
        <p:nvSpPr>
          <p:cNvPr id="19" name="Shape 17"/>
          <p:cNvSpPr/>
          <p:nvPr/>
        </p:nvSpPr>
        <p:spPr>
          <a:xfrm>
            <a:off x="8061960" y="2011680"/>
            <a:ext cx="3413760" cy="4297680"/>
          </a:xfrm>
          <a:prstGeom prst="rect">
            <a:avLst/>
          </a:prstGeom>
          <a:solidFill>
            <a:srgbClr val="14142B"/>
          </a:solidFill>
          <a:ln w="25400">
            <a:solidFill>
              <a:srgbClr val="BD93F9"/>
            </a:solidFill>
            <a:prstDash val="solid"/>
          </a:ln>
        </p:spPr>
      </p:sp>
      <p:sp>
        <p:nvSpPr>
          <p:cNvPr id="20" name="Shape 18"/>
          <p:cNvSpPr/>
          <p:nvPr/>
        </p:nvSpPr>
        <p:spPr>
          <a:xfrm>
            <a:off x="8336280" y="2240280"/>
            <a:ext cx="731520" cy="731520"/>
          </a:xfrm>
          <a:prstGeom prst="ellipse">
            <a:avLst/>
          </a:prstGeom>
          <a:solidFill>
            <a:srgbClr val="BD93F9"/>
          </a:solidFill>
          <a:ln w="12700">
            <a:solidFill>
              <a:srgbClr val="BD93F9"/>
            </a:solidFill>
            <a:prstDash val="solid"/>
          </a:ln>
        </p:spPr>
      </p:sp>
      <p:sp>
        <p:nvSpPr>
          <p:cNvPr id="21" name="Text 19"/>
          <p:cNvSpPr/>
          <p:nvPr/>
        </p:nvSpPr>
        <p:spPr>
          <a:xfrm>
            <a:off x="8336280" y="2240280"/>
            <a:ext cx="731520" cy="731520"/>
          </a:xfrm>
          <a:prstGeom prst="rect">
            <a:avLst/>
          </a:prstGeom>
          <a:noFill/>
          <a:ln/>
        </p:spPr>
        <p:txBody>
          <a:bodyPr wrap="square" lIns="0" tIns="0" rIns="0" bIns="0" rtlCol="0" anchor="ctr"/>
          <a:lstStyle/>
          <a:p>
            <a:pPr algn="ctr" indent="0" marL="0">
              <a:buNone/>
            </a:pPr>
            <a:r>
              <a:rPr lang="en-US" sz="2800" b="1" dirty="0">
                <a:solidFill>
                  <a:srgbClr val="0A0A1A"/>
                </a:solidFill>
                <a:latin typeface="Helvetica" pitchFamily="34" charset="0"/>
                <a:ea typeface="Helvetica" pitchFamily="34" charset="-122"/>
                <a:cs typeface="Helvetica" pitchFamily="34" charset="-120"/>
              </a:rPr>
              <a:t>3</a:t>
            </a:r>
            <a:endParaRPr lang="en-US" sz="2800" dirty="0"/>
          </a:p>
        </p:txBody>
      </p:sp>
      <p:sp>
        <p:nvSpPr>
          <p:cNvPr id="22" name="Text 20"/>
          <p:cNvSpPr/>
          <p:nvPr/>
        </p:nvSpPr>
        <p:spPr>
          <a:xfrm>
            <a:off x="8336280" y="3108960"/>
            <a:ext cx="2865120" cy="1005840"/>
          </a:xfrm>
          <a:prstGeom prst="rect">
            <a:avLst/>
          </a:prstGeom>
          <a:noFill/>
          <a:ln/>
        </p:spPr>
        <p:txBody>
          <a:bodyPr wrap="square" lIns="0" tIns="0" rIns="0" bIns="0" rtlCol="0" anchor="ctr"/>
          <a:lstStyle/>
          <a:p>
            <a:pPr indent="0" marL="0">
              <a:buNone/>
            </a:pPr>
            <a:r>
              <a:rPr lang="en-US" sz="2200" b="1" dirty="0">
                <a:solidFill>
                  <a:srgbClr val="FFFFFF"/>
                </a:solidFill>
                <a:latin typeface="Helvetica" pitchFamily="34" charset="0"/>
                <a:ea typeface="Helvetica" pitchFamily="34" charset="-122"/>
                <a:cs typeface="Helvetica" pitchFamily="34" charset="-120"/>
              </a:rPr>
              <a:t>Verifiable · Reversible · Socratic</a:t>
            </a:r>
            <a:endParaRPr lang="en-US" sz="2200" dirty="0"/>
          </a:p>
        </p:txBody>
      </p:sp>
      <p:sp>
        <p:nvSpPr>
          <p:cNvPr id="23" name="Text 21"/>
          <p:cNvSpPr/>
          <p:nvPr/>
        </p:nvSpPr>
        <p:spPr>
          <a:xfrm>
            <a:off x="8336280" y="4114800"/>
            <a:ext cx="2865120" cy="1920240"/>
          </a:xfrm>
          <a:prstGeom prst="rect">
            <a:avLst/>
          </a:prstGeom>
          <a:noFill/>
          <a:ln/>
        </p:spPr>
        <p:txBody>
          <a:bodyPr wrap="square" lIns="0" tIns="0" rIns="0" bIns="0" rtlCol="0" anchor="ctr"/>
          <a:lstStyle/>
          <a:p>
            <a:pPr indent="0" marL="0">
              <a:buNone/>
            </a:pPr>
            <a:r>
              <a:rPr lang="en-US" sz="1400" dirty="0">
                <a:solidFill>
                  <a:srgbClr val="B8B8D0"/>
                </a:solidFill>
                <a:latin typeface="Helvetica" pitchFamily="34" charset="0"/>
                <a:ea typeface="Helvetica" pitchFamily="34" charset="-122"/>
                <a:cs typeface="Helvetica" pitchFamily="34" charset="-120"/>
              </a:rPr>
              <a:t>Receipts (AI proves what it did) · Undo (dangerous stuff happens in a practice universe first) · It asks before doing big stuff — so your brain stays awake.</a:t>
            </a:r>
            <a:endParaRPr lang="en-US" sz="1400" dirty="0"/>
          </a:p>
        </p:txBody>
      </p:sp>
      <p:sp>
        <p:nvSpPr>
          <p:cNvPr id="25" name="Shape 22"/>
          <p:cNvSpPr/>
          <p:nvPr/>
        </p:nvSpPr>
        <p:spPr>
          <a:xfrm>
            <a:off x="0" y="6537960"/>
            <a:ext cx="12161520" cy="320040"/>
          </a:xfrm>
          <a:prstGeom prst="rect">
            <a:avLst/>
          </a:prstGeom>
          <a:solidFill>
            <a:srgbClr val="14142B"/>
          </a:solidFill>
          <a:ln w="12700">
            <a:solidFill>
              <a:srgbClr val="14142B"/>
            </a:solidFill>
            <a:prstDash val="solid"/>
          </a:ln>
        </p:spPr>
      </p:sp>
      <p:sp>
        <p:nvSpPr>
          <p:cNvPr id="26" name="Text 23"/>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27" name="Text 24"/>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Why This Matters</a:t>
            </a:r>
            <a:endParaRPr lang="en-US" sz="3200" dirty="0"/>
          </a:p>
        </p:txBody>
      </p:sp>
      <p:sp>
        <p:nvSpPr>
          <p:cNvPr id="4" name="Text 2"/>
          <p:cNvSpPr/>
          <p:nvPr/>
        </p:nvSpPr>
        <p:spPr>
          <a:xfrm>
            <a:off x="685800" y="141732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Helvetica" pitchFamily="34" charset="0"/>
                <a:ea typeface="Helvetica" pitchFamily="34" charset="-122"/>
                <a:cs typeface="Helvetica" pitchFamily="34" charset="-120"/>
              </a:rPr>
              <a:t>AI is getting really powerful, really fast.</a:t>
            </a:r>
            <a:endParaRPr lang="en-US" sz="2800" dirty="0"/>
          </a:p>
        </p:txBody>
      </p:sp>
      <p:sp>
        <p:nvSpPr>
          <p:cNvPr id="5" name="Shape 3"/>
          <p:cNvSpPr/>
          <p:nvPr/>
        </p:nvSpPr>
        <p:spPr>
          <a:xfrm>
            <a:off x="685800" y="2377440"/>
            <a:ext cx="10789920" cy="2011680"/>
          </a:xfrm>
          <a:prstGeom prst="rect">
            <a:avLst/>
          </a:prstGeom>
          <a:solidFill>
            <a:srgbClr val="14142B"/>
          </a:solidFill>
          <a:ln w="12700">
            <a:solidFill>
              <a:srgbClr val="1C1C3A"/>
            </a:solidFill>
            <a:prstDash val="solid"/>
          </a:ln>
        </p:spPr>
      </p:sp>
      <p:sp>
        <p:nvSpPr>
          <p:cNvPr id="6" name="Text 4"/>
          <p:cNvSpPr/>
          <p:nvPr/>
        </p:nvSpPr>
        <p:spPr>
          <a:xfrm>
            <a:off x="914400" y="2468880"/>
            <a:ext cx="10332720" cy="1828800"/>
          </a:xfrm>
          <a:prstGeom prst="rect">
            <a:avLst/>
          </a:prstGeom>
          <a:noFill/>
          <a:ln/>
        </p:spPr>
        <p:txBody>
          <a:bodyPr wrap="square" lIns="0" tIns="0" rIns="0" bIns="0" rtlCol="0" anchor="ctr"/>
          <a:lstStyle/>
          <a:p>
            <a:pPr algn="ctr" indent="0" marL="0">
              <a:buNone/>
            </a:pPr>
            <a:r>
              <a:rPr lang="en-US" sz="2000" dirty="0">
                <a:solidFill>
                  <a:srgbClr val="6A6A8A"/>
                </a:solidFill>
                <a:latin typeface="Helvetica" pitchFamily="34" charset="0"/>
                <a:ea typeface="Helvetica" pitchFamily="34" charset="-122"/>
                <a:cs typeface="Helvetica" pitchFamily="34" charset="-120"/>
              </a:rPr>
              <a:t>The real danger isn't smart AI.
</a:t>
            </a:r>
            <a:pPr algn="ctr" indent="0" marL="0">
              <a:buNone/>
            </a:pPr>
            <a:r>
              <a:rPr lang="en-US" sz="2600" dirty="0">
                <a:solidFill>
                  <a:srgbClr val="FFFFFF"/>
                </a:solidFill>
                <a:latin typeface="Helvetica" pitchFamily="34" charset="0"/>
                <a:ea typeface="Helvetica" pitchFamily="34" charset="-122"/>
                <a:cs typeface="Helvetica" pitchFamily="34" charset="-120"/>
              </a:rPr>
              <a:t>The real danger is </a:t>
            </a:r>
            <a:pPr algn="ctr" indent="0" marL="0">
              <a:buNone/>
            </a:pPr>
            <a:r>
              <a:rPr lang="en-US" sz="2600" b="1" dirty="0">
                <a:solidFill>
                  <a:srgbClr val="F1FA8C"/>
                </a:solidFill>
                <a:latin typeface="Helvetica" pitchFamily="34" charset="0"/>
                <a:ea typeface="Helvetica" pitchFamily="34" charset="-122"/>
                <a:cs typeface="Helvetica" pitchFamily="34" charset="-120"/>
              </a:rPr>
              <a:t>humans getting lazy</a:t>
            </a:r>
            <a:pPr algn="ctr" indent="0" marL="0">
              <a:buNone/>
            </a:pPr>
            <a:endParaRPr lang="en-US" sz="2000" dirty="0"/>
          </a:p>
          <a:p>
            <a:pPr algn="ctr" indent="0" marL="0">
              <a:buNone/>
            </a:pPr>
            <a:r>
              <a:rPr lang="en-US" sz="2600" dirty="0">
                <a:solidFill>
                  <a:srgbClr val="FFFFFF"/>
                </a:solidFill>
                <a:latin typeface="Helvetica" pitchFamily="34" charset="0"/>
                <a:ea typeface="Helvetica" pitchFamily="34" charset="-122"/>
                <a:cs typeface="Helvetica" pitchFamily="34" charset="-120"/>
              </a:rPr>
              <a:t>and losing the habit of deciding things.</a:t>
            </a:r>
            <a:endParaRPr lang="en-US" sz="2000" dirty="0"/>
          </a:p>
        </p:txBody>
      </p:sp>
      <p:sp>
        <p:nvSpPr>
          <p:cNvPr id="7" name="Shape 5"/>
          <p:cNvSpPr/>
          <p:nvPr/>
        </p:nvSpPr>
        <p:spPr>
          <a:xfrm>
            <a:off x="685800" y="4663440"/>
            <a:ext cx="10789920" cy="1645920"/>
          </a:xfrm>
          <a:prstGeom prst="rect">
            <a:avLst/>
          </a:prstGeom>
          <a:solidFill>
            <a:srgbClr val="007AFF"/>
          </a:solidFill>
          <a:ln w="12700">
            <a:solidFill>
              <a:srgbClr val="007AFF"/>
            </a:solidFill>
            <a:prstDash val="solid"/>
          </a:ln>
        </p:spPr>
      </p:sp>
      <p:sp>
        <p:nvSpPr>
          <p:cNvPr id="8" name="Text 6"/>
          <p:cNvSpPr/>
          <p:nvPr/>
        </p:nvSpPr>
        <p:spPr>
          <a:xfrm>
            <a:off x="914400" y="4754880"/>
            <a:ext cx="10332720"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Helvetica" pitchFamily="34" charset="0"/>
                <a:ea typeface="Helvetica" pitchFamily="34" charset="-122"/>
                <a:cs typeface="Helvetica" pitchFamily="34" charset="-120"/>
              </a:rPr>
              <a:t>Astrion OS is designed so you stay awake at the wheel — even when the AI drives better than you.</a:t>
            </a:r>
            <a:endParaRPr lang="en-US" sz="2200" dirty="0"/>
          </a:p>
        </p:txBody>
      </p:sp>
      <p:sp>
        <p:nvSpPr>
          <p:cNvPr id="10" name="Shape 7"/>
          <p:cNvSpPr/>
          <p:nvPr/>
        </p:nvSpPr>
        <p:spPr>
          <a:xfrm>
            <a:off x="0" y="6537960"/>
            <a:ext cx="12161520" cy="320040"/>
          </a:xfrm>
          <a:prstGeom prst="rect">
            <a:avLst/>
          </a:prstGeom>
          <a:solidFill>
            <a:srgbClr val="14142B"/>
          </a:solidFill>
          <a:ln w="12700">
            <a:solidFill>
              <a:srgbClr val="14142B"/>
            </a:solidFill>
            <a:prstDash val="solid"/>
          </a:ln>
        </p:spPr>
      </p:sp>
      <p:sp>
        <p:nvSpPr>
          <p:cNvPr id="11" name="Text 8"/>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12" name="Text 9"/>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The Roadmap</a:t>
            </a:r>
            <a:endParaRPr lang="en-US" sz="3200" dirty="0"/>
          </a:p>
        </p:txBody>
      </p:sp>
      <p:sp>
        <p:nvSpPr>
          <p:cNvPr id="4" name="Text 2"/>
          <p:cNvSpPr/>
          <p:nvPr/>
        </p:nvSpPr>
        <p:spPr>
          <a:xfrm>
            <a:off x="685800" y="1371600"/>
            <a:ext cx="10789920" cy="457200"/>
          </a:xfrm>
          <a:prstGeom prst="rect">
            <a:avLst/>
          </a:prstGeom>
          <a:noFill/>
          <a:ln/>
        </p:spPr>
        <p:txBody>
          <a:bodyPr wrap="square" lIns="0" tIns="0" rIns="0" bIns="0" rtlCol="0" anchor="ctr"/>
          <a:lstStyle/>
          <a:p>
            <a:pPr indent="0" marL="0">
              <a:buNone/>
            </a:pPr>
            <a:r>
              <a:rPr lang="en-US" sz="1800" i="1" dirty="0">
                <a:solidFill>
                  <a:srgbClr val="B8B8D0"/>
                </a:solidFill>
                <a:latin typeface="Helvetica" pitchFamily="34" charset="0"/>
                <a:ea typeface="Helvetica" pitchFamily="34" charset="-122"/>
                <a:cs typeface="Helvetica" pitchFamily="34" charset="-120"/>
              </a:rPr>
              <a:t>Nine milestones from shell to self-improvement.</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965960"/>
          <a:ext cx="10789920" cy="914400"/>
        </p:xfrm>
        <a:graphic>
          <a:graphicData uri="http://schemas.openxmlformats.org/drawingml/2006/table">
            <a:tbl>
              <a:tblPr/>
              <a:tblGrid>
                <a:gridCol w="1005840"/>
                <a:gridCol w="6858000"/>
                <a:gridCol w="2926080"/>
              </a:tblGrid>
              <a:tr h="402336">
                <a:tc>
                  <a:txBody>
                    <a:bodyPr/>
                    <a:lstStyle/>
                    <a:p>
                      <a:pPr algn="ctr" indent="0" marL="0">
                        <a:buNone/>
                      </a:pPr>
                      <a:r>
                        <a:rPr lang="en-US" sz="1400" b="1" dirty="0">
                          <a:solidFill>
                            <a:srgbClr val="FFFFFF"/>
                          </a:solidFill>
                          <a:latin typeface="Helvetica" pitchFamily="34" charset="0"/>
                          <a:ea typeface="Helvetica" pitchFamily="34" charset="-122"/>
                          <a:cs typeface="Helvetica" pitchFamily="34" charset="-120"/>
                        </a:rPr>
                        <a:t>#</a:t>
                      </a:r>
                      <a:endParaRPr lang="en-US" sz="14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007AFF"/>
                    </a:solidFill>
                  </a:tcPr>
                </a:tc>
                <a:tc>
                  <a:txBody>
                    <a:bodyPr/>
                    <a:lstStyle/>
                    <a:p>
                      <a:pPr algn="ctr" indent="0" marL="0">
                        <a:buNone/>
                      </a:pPr>
                      <a:r>
                        <a:rPr lang="en-US" sz="1400" b="1" dirty="0">
                          <a:solidFill>
                            <a:srgbClr val="FFFFFF"/>
                          </a:solidFill>
                          <a:latin typeface="Helvetica" pitchFamily="34" charset="0"/>
                          <a:ea typeface="Helvetica" pitchFamily="34" charset="-122"/>
                          <a:cs typeface="Helvetica" pitchFamily="34" charset="-120"/>
                        </a:rPr>
                        <a:t>WHAT</a:t>
                      </a:r>
                      <a:endParaRPr lang="en-US" sz="14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007AFF"/>
                    </a:solidFill>
                  </a:tcPr>
                </a:tc>
                <a:tc>
                  <a:txBody>
                    <a:bodyPr/>
                    <a:lstStyle/>
                    <a:p>
                      <a:pPr algn="ctr" indent="0" marL="0">
                        <a:buNone/>
                      </a:pPr>
                      <a:r>
                        <a:rPr lang="en-US" sz="1400" b="1" dirty="0">
                          <a:solidFill>
                            <a:srgbClr val="FFFFFF"/>
                          </a:solidFill>
                          <a:latin typeface="Helvetica" pitchFamily="34" charset="0"/>
                          <a:ea typeface="Helvetica" pitchFamily="34" charset="-122"/>
                          <a:cs typeface="Helvetica" pitchFamily="34" charset="-120"/>
                        </a:rPr>
                        <a:t>WHEN</a:t>
                      </a:r>
                      <a:endParaRPr lang="en-US" sz="14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007AFF"/>
                    </a:solidFill>
                  </a:tcPr>
                </a:tc>
              </a:tr>
              <a:tr h="402336">
                <a:tc>
                  <a:txBody>
                    <a:bodyPr/>
                    <a:lstStyle/>
                    <a:p>
                      <a:pPr algn="ctr" indent="0" marL="0">
                        <a:buNone/>
                      </a:pPr>
                      <a:r>
                        <a:rPr lang="en-US" sz="1300" b="1" dirty="0">
                          <a:solidFill>
                            <a:srgbClr val="50FA7B"/>
                          </a:solidFill>
                          <a:latin typeface="Helvetica" pitchFamily="34" charset="0"/>
                          <a:ea typeface="Helvetica" pitchFamily="34" charset="-122"/>
                          <a:cs typeface="Helvetica" pitchFamily="34" charset="-120"/>
                        </a:rPr>
                        <a:t>M0</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Finish the native desktop shell</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b="1" dirty="0">
                          <a:solidFill>
                            <a:srgbClr val="50FA7B"/>
                          </a:solidFill>
                          <a:latin typeface="Helvetica" pitchFamily="34" charset="0"/>
                          <a:ea typeface="Helvetica" pitchFamily="34" charset="-122"/>
                          <a:cs typeface="Helvetica" pitchFamily="34" charset="-120"/>
                        </a:rPr>
                        <a:t>This week ✓</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50FA7B"/>
                          </a:solidFill>
                          <a:latin typeface="Helvetica" pitchFamily="34" charset="0"/>
                          <a:ea typeface="Helvetica" pitchFamily="34" charset="-122"/>
                          <a:cs typeface="Helvetica" pitchFamily="34" charset="-120"/>
                        </a:rPr>
                        <a:t>M1</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Intent Kernel (you say what you want)</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b="1" dirty="0">
                          <a:solidFill>
                            <a:srgbClr val="50FA7B"/>
                          </a:solidFill>
                          <a:latin typeface="Helvetica" pitchFamily="34" charset="0"/>
                          <a:ea typeface="Helvetica" pitchFamily="34" charset="-122"/>
                          <a:cs typeface="Helvetica" pitchFamily="34" charset="-120"/>
                        </a:rPr>
                        <a:t>Month 2 ✓</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007AFF"/>
                          </a:solidFill>
                          <a:latin typeface="Helvetica" pitchFamily="34" charset="0"/>
                          <a:ea typeface="Helvetica" pitchFamily="34" charset="-122"/>
                          <a:cs typeface="Helvetica" pitchFamily="34" charset="-120"/>
                        </a:rPr>
                        <a:t>M2</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Replace files with a "thinking graph"</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dirty="0">
                          <a:solidFill>
                            <a:srgbClr val="8BE9FD"/>
                          </a:solidFill>
                          <a:latin typeface="Helvetica" pitchFamily="34" charset="0"/>
                          <a:ea typeface="Helvetica" pitchFamily="34" charset="-122"/>
                          <a:cs typeface="Helvetica" pitchFamily="34" charset="-120"/>
                        </a:rPr>
                        <a:t>Month 3</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007AFF"/>
                          </a:solidFill>
                          <a:latin typeface="Helvetica" pitchFamily="34" charset="0"/>
                          <a:ea typeface="Helvetica" pitchFamily="34" charset="-122"/>
                          <a:cs typeface="Helvetica" pitchFamily="34" charset="-120"/>
                        </a:rPr>
                        <a:t>M3</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Wire up the two brains (S1 + S2)</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dirty="0">
                          <a:solidFill>
                            <a:srgbClr val="8BE9FD"/>
                          </a:solidFill>
                          <a:latin typeface="Helvetica" pitchFamily="34" charset="0"/>
                          <a:ea typeface="Helvetica" pitchFamily="34" charset="-122"/>
                          <a:cs typeface="Helvetica" pitchFamily="34" charset="-120"/>
                        </a:rPr>
                        <a:t>Month 4</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007AFF"/>
                          </a:solidFill>
                          <a:latin typeface="Helvetica" pitchFamily="34" charset="0"/>
                          <a:ea typeface="Helvetica" pitchFamily="34" charset="-122"/>
                          <a:cs typeface="Helvetica" pitchFamily="34" charset="-120"/>
                        </a:rPr>
                        <a:t>M4</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AI writes code with receipts</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dirty="0">
                          <a:solidFill>
                            <a:srgbClr val="8BE9FD"/>
                          </a:solidFill>
                          <a:latin typeface="Helvetica" pitchFamily="34" charset="0"/>
                          <a:ea typeface="Helvetica" pitchFamily="34" charset="-122"/>
                          <a:cs typeface="Helvetica" pitchFamily="34" charset="-120"/>
                        </a:rPr>
                        <a:t>Month 6</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007AFF"/>
                          </a:solidFill>
                          <a:latin typeface="Helvetica" pitchFamily="34" charset="0"/>
                          <a:ea typeface="Helvetica" pitchFamily="34" charset="-122"/>
                          <a:cs typeface="Helvetica" pitchFamily="34" charset="-120"/>
                        </a:rPr>
                        <a:t>M5</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Everything is undoable</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dirty="0">
                          <a:solidFill>
                            <a:srgbClr val="8BE9FD"/>
                          </a:solidFill>
                          <a:latin typeface="Helvetica" pitchFamily="34" charset="0"/>
                          <a:ea typeface="Helvetica" pitchFamily="34" charset="-122"/>
                          <a:cs typeface="Helvetica" pitchFamily="34" charset="-120"/>
                        </a:rPr>
                        <a:t>Month 7</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007AFF"/>
                          </a:solidFill>
                          <a:latin typeface="Helvetica" pitchFamily="34" charset="0"/>
                          <a:ea typeface="Helvetica" pitchFamily="34" charset="-122"/>
                          <a:cs typeface="Helvetica" pitchFamily="34" charset="-120"/>
                        </a:rPr>
                        <a:t>M6</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AI asks smart questions</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dirty="0">
                          <a:solidFill>
                            <a:srgbClr val="8BE9FD"/>
                          </a:solidFill>
                          <a:latin typeface="Helvetica" pitchFamily="34" charset="0"/>
                          <a:ea typeface="Helvetica" pitchFamily="34" charset="-122"/>
                          <a:cs typeface="Helvetica" pitchFamily="34" charset="-120"/>
                        </a:rPr>
                        <a:t>Month 8</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007AFF"/>
                          </a:solidFill>
                          <a:latin typeface="Helvetica" pitchFamily="34" charset="0"/>
                          <a:ea typeface="Helvetica" pitchFamily="34" charset="-122"/>
                          <a:cs typeface="Helvetica" pitchFamily="34" charset="-120"/>
                        </a:rPr>
                        <a:t>M7</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Friends can share their own "intents"</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dirty="0">
                          <a:solidFill>
                            <a:srgbClr val="8BE9FD"/>
                          </a:solidFill>
                          <a:latin typeface="Helvetica" pitchFamily="34" charset="0"/>
                          <a:ea typeface="Helvetica" pitchFamily="34" charset="-122"/>
                          <a:cs typeface="Helvetica" pitchFamily="34" charset="-120"/>
                        </a:rPr>
                        <a:t>Month 10</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02336">
                <a:tc>
                  <a:txBody>
                    <a:bodyPr/>
                    <a:lstStyle/>
                    <a:p>
                      <a:pPr algn="ctr" indent="0" marL="0">
                        <a:buNone/>
                      </a:pPr>
                      <a:r>
                        <a:rPr lang="en-US" sz="1300" b="1" dirty="0">
                          <a:solidFill>
                            <a:srgbClr val="BD93F9"/>
                          </a:solidFill>
                          <a:latin typeface="Helvetica" pitchFamily="34" charset="0"/>
                          <a:ea typeface="Helvetica" pitchFamily="34" charset="-122"/>
                          <a:cs typeface="Helvetica" pitchFamily="34" charset="-120"/>
                        </a:rPr>
                        <a:t>M8</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300" dirty="0">
                          <a:solidFill>
                            <a:srgbClr val="FFFFFF"/>
                          </a:solidFill>
                          <a:latin typeface="Helvetica" pitchFamily="34" charset="0"/>
                          <a:ea typeface="Helvetica" pitchFamily="34" charset="-122"/>
                          <a:cs typeface="Helvetica" pitchFamily="34" charset="-120"/>
                        </a:rPr>
                        <a:t>AI can fix its own bugs (safely)</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algn="ctr" indent="0" marL="0">
                        <a:buNone/>
                      </a:pPr>
                      <a:r>
                        <a:rPr lang="en-US" sz="1300" b="1" dirty="0">
                          <a:solidFill>
                            <a:srgbClr val="BD93F9"/>
                          </a:solidFill>
                          <a:latin typeface="Helvetica" pitchFamily="34" charset="0"/>
                          <a:ea typeface="Helvetica" pitchFamily="34" charset="-122"/>
                          <a:cs typeface="Helvetica" pitchFamily="34" charset="-120"/>
                        </a:rPr>
                        <a:t>Month 12</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bl>
          </a:graphicData>
        </a:graphic>
      </p:graphicFrame>
      <p:sp>
        <p:nvSpPr>
          <p:cNvPr id="7" name="Shape 3"/>
          <p:cNvSpPr/>
          <p:nvPr/>
        </p:nvSpPr>
        <p:spPr>
          <a:xfrm>
            <a:off x="0" y="6537960"/>
            <a:ext cx="12161520" cy="320040"/>
          </a:xfrm>
          <a:prstGeom prst="rect">
            <a:avLst/>
          </a:prstGeom>
          <a:solidFill>
            <a:srgbClr val="14142B"/>
          </a:solidFill>
          <a:ln w="12700">
            <a:solidFill>
              <a:srgbClr val="14142B"/>
            </a:solidFill>
            <a:prstDash val="solid"/>
          </a:ln>
        </p:spPr>
      </p:sp>
      <p:sp>
        <p:nvSpPr>
          <p:cNvPr id="8" name="Text 4"/>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9" name="Text 5"/>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How You Can Help</a:t>
            </a:r>
            <a:endParaRPr lang="en-US" sz="3200" dirty="0"/>
          </a:p>
        </p:txBody>
      </p:sp>
      <p:sp>
        <p:nvSpPr>
          <p:cNvPr id="4" name="Text 2"/>
          <p:cNvSpPr/>
          <p:nvPr/>
        </p:nvSpPr>
        <p:spPr>
          <a:xfrm>
            <a:off x="685800" y="1325880"/>
            <a:ext cx="10789920" cy="457200"/>
          </a:xfrm>
          <a:prstGeom prst="rect">
            <a:avLst/>
          </a:prstGeom>
          <a:noFill/>
          <a:ln/>
        </p:spPr>
        <p:txBody>
          <a:bodyPr wrap="square" lIns="0" tIns="0" rIns="0" bIns="0" rtlCol="0" anchor="ctr"/>
          <a:lstStyle/>
          <a:p>
            <a:pPr indent="0" marL="0">
              <a:buNone/>
            </a:pPr>
            <a:r>
              <a:rPr lang="en-US" sz="2000" i="1" dirty="0">
                <a:solidFill>
                  <a:srgbClr val="B8B8D0"/>
                </a:solidFill>
                <a:latin typeface="Helvetica" pitchFamily="34" charset="0"/>
                <a:ea typeface="Helvetica" pitchFamily="34" charset="-122"/>
                <a:cs typeface="Helvetica" pitchFamily="34" charset="-120"/>
              </a:rPr>
              <a:t>You don't need to code. Pick ONE job you want to try.</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920240"/>
          <a:ext cx="10789920" cy="914400"/>
        </p:xfrm>
        <a:graphic>
          <a:graphicData uri="http://schemas.openxmlformats.org/drawingml/2006/table">
            <a:tbl>
              <a:tblPr/>
              <a:tblGrid>
                <a:gridCol w="822960"/>
                <a:gridCol w="2377440"/>
                <a:gridCol w="7589520"/>
              </a:tblGrid>
              <a:tr h="475488">
                <a:tc>
                  <a:txBody>
                    <a:bodyPr/>
                    <a:lstStyle/>
                    <a:p>
                      <a:pPr algn="ctr" indent="0" marL="0">
                        <a:buNone/>
                      </a:pP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007AFF"/>
                    </a:solidFill>
                  </a:tcPr>
                </a:tc>
                <a:tc>
                  <a:txBody>
                    <a:bodyPr/>
                    <a:lstStyle/>
                    <a:p>
                      <a:pPr algn="ctr" indent="0" marL="0">
                        <a:buNone/>
                      </a:pPr>
                      <a:r>
                        <a:rPr lang="en-US" sz="1300" b="1" dirty="0">
                          <a:solidFill>
                            <a:srgbClr val="FFFFFF"/>
                          </a:solidFill>
                          <a:latin typeface="Helvetica" pitchFamily="34" charset="0"/>
                          <a:ea typeface="Helvetica" pitchFamily="34" charset="-122"/>
                          <a:cs typeface="Helvetica" pitchFamily="34" charset="-120"/>
                        </a:rPr>
                        <a:t>JOB</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007AFF"/>
                    </a:solidFill>
                  </a:tcPr>
                </a:tc>
                <a:tc>
                  <a:txBody>
                    <a:bodyPr/>
                    <a:lstStyle/>
                    <a:p>
                      <a:pPr algn="ctr" indent="0" marL="0">
                        <a:buNone/>
                      </a:pPr>
                      <a:r>
                        <a:rPr lang="en-US" sz="1300" b="1" dirty="0">
                          <a:solidFill>
                            <a:srgbClr val="FFFFFF"/>
                          </a:solidFill>
                          <a:latin typeface="Helvetica" pitchFamily="34" charset="0"/>
                          <a:ea typeface="Helvetica" pitchFamily="34" charset="-122"/>
                          <a:cs typeface="Helvetica" pitchFamily="34" charset="-120"/>
                        </a:rPr>
                        <a:t>WHAT IT IS</a:t>
                      </a:r>
                      <a:endParaRPr lang="en-US" sz="13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007AFF"/>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Tester</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Install the ISO on your laptop, click stuff, tell me what breaks</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Designer</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Draw wallpapers, app icons, loading screens</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UX Reviewer</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Try the OS, tell me what's confusing or slow</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Writer</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Write app descriptions, help text, the user guide</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Ideas Person</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Suggest apps or features you wish existed</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Namer</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Come up with names for new apps and features</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Hype Person</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Share progress on your socials, tell friends</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r h="475488">
                <a:tc>
                  <a:txBody>
                    <a:bodyPr/>
                    <a:lstStyle/>
                    <a:p>
                      <a:pPr algn="ctr" indent="0" marL="0">
                        <a:buNone/>
                      </a:pPr>
                      <a:r>
                        <a:rPr lang="en-US" sz="2000" dirty="0">
                          <a:solidFill>
                            <a:srgbClr val="FFFFFF"/>
                          </a:solidFill>
                          <a:latin typeface="Helvetica" pitchFamily="34" charset="0"/>
                          <a:ea typeface="Helvetica" pitchFamily="34" charset="-122"/>
                          <a:cs typeface="Helvetica" pitchFamily="34" charset="-120"/>
                        </a:rPr>
                        <a:t>🐛</a:t>
                      </a:r>
                      <a:endParaRPr lang="en-US" sz="20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500" b="1" dirty="0">
                          <a:solidFill>
                            <a:srgbClr val="FFFFFF"/>
                          </a:solidFill>
                          <a:latin typeface="Helvetica" pitchFamily="34" charset="0"/>
                          <a:ea typeface="Helvetica" pitchFamily="34" charset="-122"/>
                          <a:cs typeface="Helvetica" pitchFamily="34" charset="-120"/>
                        </a:rPr>
                        <a:t>Bug Hunter</a:t>
                      </a:r>
                      <a:endParaRPr lang="en-US" sz="15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c>
                  <a:txBody>
                    <a:bodyPr/>
                    <a:lstStyle/>
                    <a:p>
                      <a:pPr indent="0" marL="0">
                        <a:buNone/>
                      </a:pPr>
                      <a:r>
                        <a:rPr lang="en-US" sz="1200" dirty="0">
                          <a:solidFill>
                            <a:srgbClr val="B8B8D0"/>
                          </a:solidFill>
                          <a:latin typeface="Helvetica" pitchFamily="34" charset="0"/>
                          <a:ea typeface="Helvetica" pitchFamily="34" charset="-122"/>
                          <a:cs typeface="Helvetica" pitchFamily="34" charset="-120"/>
                        </a:rPr>
                        <a:t>Find weird stuff, screenshot it, send it to me</a:t>
                      </a:r>
                      <a:endParaRPr lang="en-US" sz="1200" dirty="0">
                        <a:latin typeface="Helvetica" charset="0"/>
                        <a:ea typeface="Helvetica" charset="0"/>
                        <a:cs typeface="Helvetica" charset="0"/>
                      </a:endParaRPr>
                    </a:p>
                  </a:txBody>
                  <a:tcPr marL="91440" marR="91440" marT="45720" marB="45720" anchor="ctr">
                    <a:lnL w="12700" cap="flat" cmpd="sng" algn="ctr">
                      <a:solidFill>
                        <a:srgbClr val="1C1C3A"/>
                      </a:solidFill>
                      <a:prstDash val="solid"/>
                      <a:round/>
                      <a:headEnd type="none" w="med" len="med"/>
                      <a:tailEnd type="none" w="med" len="med"/>
                    </a:lnL>
                    <a:lnR w="12700" cap="flat" cmpd="sng" algn="ctr">
                      <a:solidFill>
                        <a:srgbClr val="1C1C3A"/>
                      </a:solidFill>
                      <a:prstDash val="solid"/>
                      <a:round/>
                      <a:headEnd type="none" w="med" len="med"/>
                      <a:tailEnd type="none" w="med" len="med"/>
                    </a:lnR>
                    <a:lnT w="12700" cap="flat" cmpd="sng" algn="ctr">
                      <a:solidFill>
                        <a:srgbClr val="1C1C3A"/>
                      </a:solidFill>
                      <a:prstDash val="solid"/>
                      <a:round/>
                      <a:headEnd type="none" w="med" len="med"/>
                      <a:tailEnd type="none" w="med" len="med"/>
                    </a:lnT>
                    <a:lnB w="12700" cap="flat" cmpd="sng" algn="ctr">
                      <a:solidFill>
                        <a:srgbClr val="1C1C3A"/>
                      </a:solidFill>
                      <a:prstDash val="solid"/>
                      <a:round/>
                      <a:headEnd type="none" w="med" len="med"/>
                      <a:tailEnd type="none" w="med" len="med"/>
                    </a:lnB>
                    <a:solidFill>
                      <a:srgbClr val="14142B"/>
                    </a:solidFill>
                  </a:tcPr>
                </a:tc>
              </a:tr>
            </a:tbl>
          </a:graphicData>
        </a:graphic>
      </p:graphicFrame>
      <p:sp>
        <p:nvSpPr>
          <p:cNvPr id="6" name="Text 3"/>
          <p:cNvSpPr/>
          <p:nvPr/>
        </p:nvSpPr>
        <p:spPr>
          <a:xfrm>
            <a:off x="685800" y="6263640"/>
            <a:ext cx="10789920" cy="365760"/>
          </a:xfrm>
          <a:prstGeom prst="rect">
            <a:avLst/>
          </a:prstGeom>
          <a:noFill/>
          <a:ln/>
        </p:spPr>
        <p:txBody>
          <a:bodyPr wrap="square" lIns="0" tIns="0" rIns="0" bIns="0" rtlCol="0" anchor="ctr"/>
          <a:lstStyle/>
          <a:p>
            <a:pPr algn="ctr" indent="0" marL="0">
              <a:buNone/>
            </a:pPr>
            <a:r>
              <a:rPr lang="en-US" sz="1600" i="1" dirty="0">
                <a:solidFill>
                  <a:srgbClr val="8BE9FD"/>
                </a:solidFill>
                <a:latin typeface="Helvetica" pitchFamily="34" charset="0"/>
                <a:ea typeface="Helvetica" pitchFamily="34" charset="-122"/>
                <a:cs typeface="Helvetica" pitchFamily="34" charset="-120"/>
              </a:rPr>
              <a:t>Pick one. That's it.</a:t>
            </a:r>
            <a:endParaRPr lang="en-US" sz="1600" dirty="0"/>
          </a:p>
        </p:txBody>
      </p:sp>
      <p:sp>
        <p:nvSpPr>
          <p:cNvPr id="8" name="Shape 4"/>
          <p:cNvSpPr/>
          <p:nvPr/>
        </p:nvSpPr>
        <p:spPr>
          <a:xfrm>
            <a:off x="0" y="6537960"/>
            <a:ext cx="12161520" cy="320040"/>
          </a:xfrm>
          <a:prstGeom prst="rect">
            <a:avLst/>
          </a:prstGeom>
          <a:solidFill>
            <a:srgbClr val="14142B"/>
          </a:solidFill>
          <a:ln w="12700">
            <a:solidFill>
              <a:srgbClr val="14142B"/>
            </a:solidFill>
            <a:prstDash val="solid"/>
          </a:ln>
        </p:spPr>
      </p:sp>
      <p:sp>
        <p:nvSpPr>
          <p:cNvPr id="9" name="Text 5"/>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10" name="Text 6"/>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07AFF"/>
          </a:solidFill>
          <a:ln w="12700">
            <a:solidFill>
              <a:srgbClr val="007AFF"/>
            </a:solidFill>
            <a:prstDash val="solid"/>
          </a:ln>
        </p:spPr>
      </p:sp>
      <p:sp>
        <p:nvSpPr>
          <p:cNvPr id="3" name="Text 1"/>
          <p:cNvSpPr/>
          <p:nvPr/>
        </p:nvSpPr>
        <p:spPr>
          <a:xfrm>
            <a:off x="685800" y="45720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Live Demo</a:t>
            </a:r>
            <a:endParaRPr lang="en-US" sz="3200" dirty="0"/>
          </a:p>
        </p:txBody>
      </p:sp>
      <p:sp>
        <p:nvSpPr>
          <p:cNvPr id="4" name="Text 2"/>
          <p:cNvSpPr/>
          <p:nvPr/>
        </p:nvSpPr>
        <p:spPr>
          <a:xfrm>
            <a:off x="685800" y="1371600"/>
            <a:ext cx="10789920" cy="548640"/>
          </a:xfrm>
          <a:prstGeom prst="rect">
            <a:avLst/>
          </a:prstGeom>
          <a:noFill/>
          <a:ln/>
        </p:spPr>
        <p:txBody>
          <a:bodyPr wrap="square" lIns="0" tIns="0" rIns="0" bIns="0" rtlCol="0" anchor="ctr"/>
          <a:lstStyle/>
          <a:p>
            <a:pPr indent="0" marL="0">
              <a:buNone/>
            </a:pPr>
            <a:r>
              <a:rPr lang="en-US" sz="2200" i="1" dirty="0">
                <a:solidFill>
                  <a:srgbClr val="B8B8D0"/>
                </a:solidFill>
                <a:latin typeface="Helvetica" pitchFamily="34" charset="0"/>
                <a:ea typeface="Helvetica" pitchFamily="34" charset="-122"/>
                <a:cs typeface="Helvetica" pitchFamily="34" charset="-120"/>
              </a:rPr>
              <a:t>Let me show you what's working right now.</a:t>
            </a:r>
            <a:endParaRPr lang="en-US" sz="2200" dirty="0"/>
          </a:p>
        </p:txBody>
      </p:sp>
      <p:sp>
        <p:nvSpPr>
          <p:cNvPr id="5" name="Shape 3"/>
          <p:cNvSpPr/>
          <p:nvPr/>
        </p:nvSpPr>
        <p:spPr>
          <a:xfrm>
            <a:off x="777240" y="2267712"/>
            <a:ext cx="164592" cy="164592"/>
          </a:xfrm>
          <a:prstGeom prst="rect">
            <a:avLst/>
          </a:prstGeom>
          <a:solidFill>
            <a:srgbClr val="007AFF"/>
          </a:solidFill>
          <a:ln w="12700">
            <a:solidFill>
              <a:srgbClr val="007AFF"/>
            </a:solidFill>
            <a:prstDash val="solid"/>
          </a:ln>
        </p:spPr>
      </p:sp>
      <p:sp>
        <p:nvSpPr>
          <p:cNvPr id="6" name="Text 4"/>
          <p:cNvSpPr/>
          <p:nvPr/>
        </p:nvSpPr>
        <p:spPr>
          <a:xfrm>
            <a:off x="1097280" y="2103120"/>
            <a:ext cx="5760720" cy="502920"/>
          </a:xfrm>
          <a:prstGeom prst="rect">
            <a:avLst/>
          </a:prstGeom>
          <a:noFill/>
          <a:ln/>
        </p:spPr>
        <p:txBody>
          <a:bodyPr wrap="square" lIns="0" tIns="0" rIns="0" bIns="0" rtlCol="0" anchor="ctr"/>
          <a:lstStyle/>
          <a:p>
            <a:pPr indent="0" marL="0">
              <a:buNone/>
            </a:pPr>
            <a:r>
              <a:rPr lang="en-US" sz="1800" dirty="0">
                <a:solidFill>
                  <a:srgbClr val="FFFFFF"/>
                </a:solidFill>
                <a:latin typeface="Helvetica" pitchFamily="34" charset="0"/>
                <a:ea typeface="Helvetica" pitchFamily="34" charset="-122"/>
                <a:cs typeface="Helvetica" pitchFamily="34" charset="-120"/>
              </a:rPr>
              <a:t>Boot the ISO in a VM</a:t>
            </a:r>
            <a:endParaRPr lang="en-US" sz="1800" dirty="0"/>
          </a:p>
        </p:txBody>
      </p:sp>
      <p:sp>
        <p:nvSpPr>
          <p:cNvPr id="7" name="Shape 5"/>
          <p:cNvSpPr/>
          <p:nvPr/>
        </p:nvSpPr>
        <p:spPr>
          <a:xfrm>
            <a:off x="777240" y="2907792"/>
            <a:ext cx="164592" cy="164592"/>
          </a:xfrm>
          <a:prstGeom prst="rect">
            <a:avLst/>
          </a:prstGeom>
          <a:solidFill>
            <a:srgbClr val="007AFF"/>
          </a:solidFill>
          <a:ln w="12700">
            <a:solidFill>
              <a:srgbClr val="007AFF"/>
            </a:solidFill>
            <a:prstDash val="solid"/>
          </a:ln>
        </p:spPr>
      </p:sp>
      <p:sp>
        <p:nvSpPr>
          <p:cNvPr id="8" name="Text 6"/>
          <p:cNvSpPr/>
          <p:nvPr/>
        </p:nvSpPr>
        <p:spPr>
          <a:xfrm>
            <a:off x="1097280" y="2743200"/>
            <a:ext cx="5760720" cy="502920"/>
          </a:xfrm>
          <a:prstGeom prst="rect">
            <a:avLst/>
          </a:prstGeom>
          <a:noFill/>
          <a:ln/>
        </p:spPr>
        <p:txBody>
          <a:bodyPr wrap="square" lIns="0" tIns="0" rIns="0" bIns="0" rtlCol="0" anchor="ctr"/>
          <a:lstStyle/>
          <a:p>
            <a:pPr indent="0" marL="0">
              <a:buNone/>
            </a:pPr>
            <a:r>
              <a:rPr lang="en-US" sz="1800" dirty="0">
                <a:solidFill>
                  <a:srgbClr val="FFFFFF"/>
                </a:solidFill>
                <a:latin typeface="Helvetica" pitchFamily="34" charset="0"/>
                <a:ea typeface="Helvetica" pitchFamily="34" charset="-122"/>
                <a:cs typeface="Helvetica" pitchFamily="34" charset="-120"/>
              </a:rPr>
              <a:t>Click around the native desktop</a:t>
            </a:r>
            <a:endParaRPr lang="en-US" sz="1800" dirty="0"/>
          </a:p>
        </p:txBody>
      </p:sp>
      <p:sp>
        <p:nvSpPr>
          <p:cNvPr id="9" name="Shape 7"/>
          <p:cNvSpPr/>
          <p:nvPr/>
        </p:nvSpPr>
        <p:spPr>
          <a:xfrm>
            <a:off x="777240" y="3547872"/>
            <a:ext cx="164592" cy="164592"/>
          </a:xfrm>
          <a:prstGeom prst="rect">
            <a:avLst/>
          </a:prstGeom>
          <a:solidFill>
            <a:srgbClr val="007AFF"/>
          </a:solidFill>
          <a:ln w="12700">
            <a:solidFill>
              <a:srgbClr val="007AFF"/>
            </a:solidFill>
            <a:prstDash val="solid"/>
          </a:ln>
        </p:spPr>
      </p:sp>
      <p:sp>
        <p:nvSpPr>
          <p:cNvPr id="10" name="Text 8"/>
          <p:cNvSpPr/>
          <p:nvPr/>
        </p:nvSpPr>
        <p:spPr>
          <a:xfrm>
            <a:off x="1097280" y="3383280"/>
            <a:ext cx="5760720" cy="502920"/>
          </a:xfrm>
          <a:prstGeom prst="rect">
            <a:avLst/>
          </a:prstGeom>
          <a:noFill/>
          <a:ln/>
        </p:spPr>
        <p:txBody>
          <a:bodyPr wrap="square" lIns="0" tIns="0" rIns="0" bIns="0" rtlCol="0" anchor="ctr"/>
          <a:lstStyle/>
          <a:p>
            <a:pPr indent="0" marL="0">
              <a:buNone/>
            </a:pPr>
            <a:r>
              <a:rPr lang="en-US" sz="1800" dirty="0">
                <a:solidFill>
                  <a:srgbClr val="FFFFFF"/>
                </a:solidFill>
                <a:latin typeface="Helvetica" pitchFamily="34" charset="0"/>
                <a:ea typeface="Helvetica" pitchFamily="34" charset="-122"/>
                <a:cs typeface="Helvetica" pitchFamily="34" charset="-120"/>
              </a:rPr>
              <a:t>Open Terminal</a:t>
            </a:r>
            <a:endParaRPr lang="en-US" sz="1800" dirty="0"/>
          </a:p>
        </p:txBody>
      </p:sp>
      <p:sp>
        <p:nvSpPr>
          <p:cNvPr id="11" name="Shape 9"/>
          <p:cNvSpPr/>
          <p:nvPr/>
        </p:nvSpPr>
        <p:spPr>
          <a:xfrm>
            <a:off x="777240" y="4187952"/>
            <a:ext cx="164592" cy="164592"/>
          </a:xfrm>
          <a:prstGeom prst="rect">
            <a:avLst/>
          </a:prstGeom>
          <a:solidFill>
            <a:srgbClr val="007AFF"/>
          </a:solidFill>
          <a:ln w="12700">
            <a:solidFill>
              <a:srgbClr val="007AFF"/>
            </a:solidFill>
            <a:prstDash val="solid"/>
          </a:ln>
        </p:spPr>
      </p:sp>
      <p:sp>
        <p:nvSpPr>
          <p:cNvPr id="12" name="Text 10"/>
          <p:cNvSpPr/>
          <p:nvPr/>
        </p:nvSpPr>
        <p:spPr>
          <a:xfrm>
            <a:off x="1097280" y="4023360"/>
            <a:ext cx="5760720" cy="502920"/>
          </a:xfrm>
          <a:prstGeom prst="rect">
            <a:avLst/>
          </a:prstGeom>
          <a:noFill/>
          <a:ln/>
        </p:spPr>
        <p:txBody>
          <a:bodyPr wrap="square" lIns="0" tIns="0" rIns="0" bIns="0" rtlCol="0" anchor="ctr"/>
          <a:lstStyle/>
          <a:p>
            <a:pPr indent="0" marL="0">
              <a:buNone/>
            </a:pPr>
            <a:r>
              <a:rPr lang="en-US" sz="1800" dirty="0">
                <a:solidFill>
                  <a:srgbClr val="FFFFFF"/>
                </a:solidFill>
                <a:latin typeface="Helvetica" pitchFamily="34" charset="0"/>
                <a:ea typeface="Helvetica" pitchFamily="34" charset="-122"/>
                <a:cs typeface="Helvetica" pitchFamily="34" charset="-120"/>
              </a:rPr>
              <a:t>Try Spotlight search (Ctrl+Space)</a:t>
            </a:r>
            <a:endParaRPr lang="en-US" sz="1800" dirty="0"/>
          </a:p>
        </p:txBody>
      </p:sp>
      <p:sp>
        <p:nvSpPr>
          <p:cNvPr id="13" name="Shape 11"/>
          <p:cNvSpPr/>
          <p:nvPr/>
        </p:nvSpPr>
        <p:spPr>
          <a:xfrm>
            <a:off x="777240" y="4828032"/>
            <a:ext cx="164592" cy="164592"/>
          </a:xfrm>
          <a:prstGeom prst="rect">
            <a:avLst/>
          </a:prstGeom>
          <a:solidFill>
            <a:srgbClr val="007AFF"/>
          </a:solidFill>
          <a:ln w="12700">
            <a:solidFill>
              <a:srgbClr val="007AFF"/>
            </a:solidFill>
            <a:prstDash val="solid"/>
          </a:ln>
        </p:spPr>
      </p:sp>
      <p:sp>
        <p:nvSpPr>
          <p:cNvPr id="14" name="Text 12"/>
          <p:cNvSpPr/>
          <p:nvPr/>
        </p:nvSpPr>
        <p:spPr>
          <a:xfrm>
            <a:off x="1097280" y="4663440"/>
            <a:ext cx="5760720" cy="502920"/>
          </a:xfrm>
          <a:prstGeom prst="rect">
            <a:avLst/>
          </a:prstGeom>
          <a:noFill/>
          <a:ln/>
        </p:spPr>
        <p:txBody>
          <a:bodyPr wrap="square" lIns="0" tIns="0" rIns="0" bIns="0" rtlCol="0" anchor="ctr"/>
          <a:lstStyle/>
          <a:p>
            <a:pPr indent="0" marL="0">
              <a:buNone/>
            </a:pPr>
            <a:r>
              <a:rPr lang="en-US" sz="1800" dirty="0">
                <a:solidFill>
                  <a:srgbClr val="FFFFFF"/>
                </a:solidFill>
                <a:latin typeface="Helvetica" pitchFamily="34" charset="0"/>
                <a:ea typeface="Helvetica" pitchFamily="34" charset="-122"/>
                <a:cs typeface="Helvetica" pitchFamily="34" charset="-120"/>
              </a:rPr>
              <a:t>Show the GitHub Releases page</a:t>
            </a:r>
            <a:endParaRPr lang="en-US" sz="1800" dirty="0"/>
          </a:p>
        </p:txBody>
      </p:sp>
      <p:sp>
        <p:nvSpPr>
          <p:cNvPr id="15" name="Shape 13"/>
          <p:cNvSpPr/>
          <p:nvPr/>
        </p:nvSpPr>
        <p:spPr>
          <a:xfrm>
            <a:off x="777240" y="5486400"/>
            <a:ext cx="6217920" cy="822960"/>
          </a:xfrm>
          <a:prstGeom prst="rect">
            <a:avLst/>
          </a:prstGeom>
          <a:solidFill>
            <a:srgbClr val="14142B"/>
          </a:solidFill>
          <a:ln w="12700">
            <a:solidFill>
              <a:srgbClr val="007AFF"/>
            </a:solidFill>
            <a:prstDash val="solid"/>
          </a:ln>
        </p:spPr>
      </p:sp>
      <p:sp>
        <p:nvSpPr>
          <p:cNvPr id="16" name="Text 14"/>
          <p:cNvSpPr/>
          <p:nvPr/>
        </p:nvSpPr>
        <p:spPr>
          <a:xfrm>
            <a:off x="777240" y="5486400"/>
            <a:ext cx="6217920" cy="822960"/>
          </a:xfrm>
          <a:prstGeom prst="rect">
            <a:avLst/>
          </a:prstGeom>
          <a:noFill/>
          <a:ln/>
        </p:spPr>
        <p:txBody>
          <a:bodyPr wrap="square" lIns="0" tIns="0" rIns="0" bIns="0" rtlCol="0" anchor="ctr"/>
          <a:lstStyle/>
          <a:p>
            <a:pPr algn="ctr" indent="0" marL="0">
              <a:buNone/>
            </a:pPr>
            <a:r>
              <a:rPr lang="en-US" sz="1400" i="1" dirty="0">
                <a:solidFill>
                  <a:srgbClr val="8BE9FD"/>
                </a:solidFill>
                <a:latin typeface="Helvetica" pitchFamily="34" charset="0"/>
                <a:ea typeface="Helvetica" pitchFamily="34" charset="-122"/>
                <a:cs typeface="Helvetica" pitchFamily="34" charset="-120"/>
              </a:rPr>
              <a:t>"This is a real operating system — not a website."</a:t>
            </a:r>
            <a:endParaRPr lang="en-US" sz="1400" dirty="0"/>
          </a:p>
        </p:txBody>
      </p:sp>
      <p:sp>
        <p:nvSpPr>
          <p:cNvPr id="17" name="Shape 15"/>
          <p:cNvSpPr/>
          <p:nvPr/>
        </p:nvSpPr>
        <p:spPr>
          <a:xfrm>
            <a:off x="7315200" y="1371600"/>
            <a:ext cx="4389120" cy="4937760"/>
          </a:xfrm>
          <a:prstGeom prst="rect">
            <a:avLst/>
          </a:prstGeom>
          <a:solidFill>
            <a:srgbClr val="1C1C3A"/>
          </a:solidFill>
          <a:ln w="25400">
            <a:solidFill>
              <a:srgbClr val="007AFF"/>
            </a:solidFill>
            <a:prstDash val="dash"/>
          </a:ln>
        </p:spPr>
      </p:sp>
      <p:sp>
        <p:nvSpPr>
          <p:cNvPr id="18" name="Text 16"/>
          <p:cNvSpPr/>
          <p:nvPr/>
        </p:nvSpPr>
        <p:spPr>
          <a:xfrm>
            <a:off x="7315200" y="2260397"/>
            <a:ext cx="4389120" cy="822960"/>
          </a:xfrm>
          <a:prstGeom prst="rect">
            <a:avLst/>
          </a:prstGeom>
          <a:noFill/>
          <a:ln/>
        </p:spPr>
        <p:txBody>
          <a:bodyPr wrap="square" lIns="0" tIns="0" rIns="0" bIns="0" rtlCol="0" anchor="ctr"/>
          <a:lstStyle/>
          <a:p>
            <a:pPr algn="ctr" indent="0" marL="0">
              <a:buNone/>
            </a:pPr>
            <a:r>
              <a:rPr lang="en-US" sz="5400" dirty="0">
                <a:solidFill>
                  <a:srgbClr val="007AFF"/>
                </a:solidFill>
                <a:latin typeface="Helvetica" pitchFamily="34" charset="0"/>
                <a:ea typeface="Helvetica" pitchFamily="34" charset="-122"/>
                <a:cs typeface="Helvetica" pitchFamily="34" charset="-120"/>
              </a:rPr>
              <a:t>📷</a:t>
            </a:r>
            <a:endParaRPr lang="en-US" sz="5400" dirty="0"/>
          </a:p>
        </p:txBody>
      </p:sp>
      <p:sp>
        <p:nvSpPr>
          <p:cNvPr id="19" name="Text 17"/>
          <p:cNvSpPr/>
          <p:nvPr/>
        </p:nvSpPr>
        <p:spPr>
          <a:xfrm>
            <a:off x="7315200" y="4087368"/>
            <a:ext cx="4389120" cy="365760"/>
          </a:xfrm>
          <a:prstGeom prst="rect">
            <a:avLst/>
          </a:prstGeom>
          <a:noFill/>
          <a:ln/>
        </p:spPr>
        <p:txBody>
          <a:bodyPr wrap="square" lIns="0" tIns="0" rIns="0" bIns="0" rtlCol="0" anchor="ctr"/>
          <a:lstStyle/>
          <a:p>
            <a:pPr algn="ctr" indent="0" marL="0">
              <a:buNone/>
            </a:pPr>
            <a:r>
              <a:rPr lang="en-US" sz="1400" b="1" spc="300" kern="0" dirty="0">
                <a:solidFill>
                  <a:srgbClr val="007AFF"/>
                </a:solidFill>
                <a:latin typeface="Helvetica" pitchFamily="34" charset="0"/>
                <a:ea typeface="Helvetica" pitchFamily="34" charset="-122"/>
                <a:cs typeface="Helvetica" pitchFamily="34" charset="-120"/>
              </a:rPr>
              <a:t>IMAGE PLACEHOLDER</a:t>
            </a:r>
            <a:endParaRPr lang="en-US" sz="1400" dirty="0"/>
          </a:p>
        </p:txBody>
      </p:sp>
      <p:sp>
        <p:nvSpPr>
          <p:cNvPr id="20" name="Text 18"/>
          <p:cNvSpPr/>
          <p:nvPr/>
        </p:nvSpPr>
        <p:spPr>
          <a:xfrm>
            <a:off x="7589520" y="4729277"/>
            <a:ext cx="3840480" cy="548640"/>
          </a:xfrm>
          <a:prstGeom prst="rect">
            <a:avLst/>
          </a:prstGeom>
          <a:noFill/>
          <a:ln/>
        </p:spPr>
        <p:txBody>
          <a:bodyPr wrap="square" lIns="0" tIns="0" rIns="0" bIns="0" rtlCol="0" anchor="ctr"/>
          <a:lstStyle/>
          <a:p>
            <a:pPr algn="ctr" indent="0" marL="0">
              <a:buNone/>
            </a:pPr>
            <a:r>
              <a:rPr lang="en-US" sz="1200" i="1" dirty="0">
                <a:solidFill>
                  <a:srgbClr val="B8B8D0"/>
                </a:solidFill>
                <a:latin typeface="Helvetica" pitchFamily="34" charset="0"/>
                <a:ea typeface="Helvetica" pitchFamily="34" charset="-122"/>
                <a:cs typeface="Helvetica" pitchFamily="34" charset="-120"/>
              </a:rPr>
              <a:t>drop live-demo screenshot here</a:t>
            </a:r>
            <a:endParaRPr lang="en-US" sz="1200" dirty="0"/>
          </a:p>
        </p:txBody>
      </p:sp>
      <p:sp>
        <p:nvSpPr>
          <p:cNvPr id="22" name="Shape 19"/>
          <p:cNvSpPr/>
          <p:nvPr/>
        </p:nvSpPr>
        <p:spPr>
          <a:xfrm>
            <a:off x="0" y="6537960"/>
            <a:ext cx="12161520" cy="320040"/>
          </a:xfrm>
          <a:prstGeom prst="rect">
            <a:avLst/>
          </a:prstGeom>
          <a:solidFill>
            <a:srgbClr val="14142B"/>
          </a:solidFill>
          <a:ln w="12700">
            <a:solidFill>
              <a:srgbClr val="14142B"/>
            </a:solidFill>
            <a:prstDash val="solid"/>
          </a:ln>
        </p:spPr>
      </p:sp>
      <p:sp>
        <p:nvSpPr>
          <p:cNvPr id="23" name="Text 20"/>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24" name="Text 21"/>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1A"/>
        </a:solidFill>
      </p:bgPr>
    </p:bg>
    <p:spTree>
      <p:nvGrpSpPr>
        <p:cNvPr id="1" name=""/>
        <p:cNvGrpSpPr/>
        <p:nvPr/>
      </p:nvGrpSpPr>
      <p:grpSpPr>
        <a:xfrm>
          <a:off x="0" y="0"/>
          <a:ext cx="0" cy="0"/>
          <a:chOff x="0" y="0"/>
          <a:chExt cx="0" cy="0"/>
        </a:xfrm>
      </p:grpSpPr>
      <p:sp>
        <p:nvSpPr>
          <p:cNvPr id="2" name="Text 0"/>
          <p:cNvSpPr/>
          <p:nvPr/>
        </p:nvSpPr>
        <p:spPr>
          <a:xfrm>
            <a:off x="457200" y="1463040"/>
            <a:ext cx="11247120" cy="1280160"/>
          </a:xfrm>
          <a:prstGeom prst="rect">
            <a:avLst/>
          </a:prstGeom>
          <a:noFill/>
          <a:ln/>
        </p:spPr>
        <p:txBody>
          <a:bodyPr wrap="square" lIns="0" tIns="0" rIns="0" bIns="0" rtlCol="0" anchor="ctr"/>
          <a:lstStyle/>
          <a:p>
            <a:pPr algn="ctr" indent="0" marL="0">
              <a:buNone/>
            </a:pPr>
            <a:r>
              <a:rPr lang="en-US" sz="9600" b="1" dirty="0">
                <a:solidFill>
                  <a:srgbClr val="FFFFFF"/>
                </a:solidFill>
                <a:latin typeface="Helvetica" pitchFamily="34" charset="0"/>
                <a:ea typeface="Helvetica" pitchFamily="34" charset="-122"/>
                <a:cs typeface="Helvetica" pitchFamily="34" charset="-120"/>
              </a:rPr>
              <a:t>Thank you.</a:t>
            </a:r>
            <a:endParaRPr lang="en-US" sz="9600" dirty="0"/>
          </a:p>
        </p:txBody>
      </p:sp>
      <p:sp>
        <p:nvSpPr>
          <p:cNvPr id="3" name="Text 1"/>
          <p:cNvSpPr/>
          <p:nvPr/>
        </p:nvSpPr>
        <p:spPr>
          <a:xfrm>
            <a:off x="457200" y="2834640"/>
            <a:ext cx="11247120" cy="640080"/>
          </a:xfrm>
          <a:prstGeom prst="rect">
            <a:avLst/>
          </a:prstGeom>
          <a:noFill/>
          <a:ln/>
        </p:spPr>
        <p:txBody>
          <a:bodyPr wrap="square" lIns="0" tIns="0" rIns="0" bIns="0" rtlCol="0" anchor="ctr"/>
          <a:lstStyle/>
          <a:p>
            <a:pPr algn="ctr" indent="0" marL="0">
              <a:buNone/>
            </a:pPr>
            <a:r>
              <a:rPr lang="en-US" sz="2800" b="1" spc="600" kern="0" dirty="0">
                <a:solidFill>
                  <a:srgbClr val="007AFF"/>
                </a:solidFill>
                <a:latin typeface="Helvetica" pitchFamily="34" charset="0"/>
                <a:ea typeface="Helvetica" pitchFamily="34" charset="-122"/>
                <a:cs typeface="Helvetica" pitchFamily="34" charset="-120"/>
              </a:rPr>
              <a:t>ASTRION OS</a:t>
            </a:r>
            <a:endParaRPr lang="en-US" sz="2800" dirty="0"/>
          </a:p>
        </p:txBody>
      </p:sp>
      <p:sp>
        <p:nvSpPr>
          <p:cNvPr id="4" name="Shape 2"/>
          <p:cNvSpPr/>
          <p:nvPr/>
        </p:nvSpPr>
        <p:spPr>
          <a:xfrm>
            <a:off x="2286000" y="3657600"/>
            <a:ext cx="7589520" cy="822960"/>
          </a:xfrm>
          <a:prstGeom prst="roundRect">
            <a:avLst>
              <a:gd name="adj" fmla="val 50000"/>
            </a:avLst>
          </a:prstGeom>
          <a:solidFill>
            <a:srgbClr val="14142B"/>
          </a:solidFill>
          <a:ln w="25400">
            <a:solidFill>
              <a:srgbClr val="007AFF"/>
            </a:solidFill>
            <a:prstDash val="solid"/>
          </a:ln>
        </p:spPr>
      </p:sp>
      <p:sp>
        <p:nvSpPr>
          <p:cNvPr id="5" name="Text 3"/>
          <p:cNvSpPr/>
          <p:nvPr/>
        </p:nvSpPr>
        <p:spPr>
          <a:xfrm>
            <a:off x="2286000" y="3657600"/>
            <a:ext cx="758952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Helvetica" pitchFamily="34" charset="0"/>
                <a:ea typeface="Helvetica" pitchFamily="34" charset="-122"/>
                <a:cs typeface="Helvetica" pitchFamily="34" charset="-120"/>
              </a:rPr>
              <a:t>github.com/viraajbindra-a11y/Astrion-OS</a:t>
            </a:r>
            <a:endParaRPr lang="en-US" sz="2200" dirty="0"/>
          </a:p>
        </p:txBody>
      </p:sp>
      <p:sp>
        <p:nvSpPr>
          <p:cNvPr id="6" name="Text 4"/>
          <p:cNvSpPr/>
          <p:nvPr/>
        </p:nvSpPr>
        <p:spPr>
          <a:xfrm>
            <a:off x="457200" y="4663440"/>
            <a:ext cx="11247120" cy="457200"/>
          </a:xfrm>
          <a:prstGeom prst="rect">
            <a:avLst/>
          </a:prstGeom>
          <a:noFill/>
          <a:ln/>
        </p:spPr>
        <p:txBody>
          <a:bodyPr wrap="square" lIns="0" tIns="0" rIns="0" bIns="0" rtlCol="0" anchor="ctr"/>
          <a:lstStyle/>
          <a:p>
            <a:pPr algn="ctr" indent="0" marL="0">
              <a:buNone/>
            </a:pPr>
            <a:r>
              <a:rPr lang="en-US" sz="1600" i="1" dirty="0">
                <a:solidFill>
                  <a:srgbClr val="B8B8D0"/>
                </a:solidFill>
                <a:latin typeface="Helvetica" pitchFamily="34" charset="0"/>
                <a:ea typeface="Helvetica" pitchFamily="34" charset="-122"/>
                <a:cs typeface="Helvetica" pitchFamily="34" charset="-120"/>
              </a:rPr>
              <a:t>The ISO is on the Releases page — go download it if you want to try it.</a:t>
            </a:r>
            <a:endParaRPr lang="en-US" sz="1600" dirty="0"/>
          </a:p>
        </p:txBody>
      </p:sp>
      <p:sp>
        <p:nvSpPr>
          <p:cNvPr id="7" name="Shape 5"/>
          <p:cNvSpPr/>
          <p:nvPr/>
        </p:nvSpPr>
        <p:spPr>
          <a:xfrm>
            <a:off x="457200" y="5394960"/>
            <a:ext cx="11247120" cy="822960"/>
          </a:xfrm>
          <a:prstGeom prst="rect">
            <a:avLst/>
          </a:prstGeom>
          <a:solidFill>
            <a:srgbClr val="007AFF"/>
          </a:solidFill>
          <a:ln w="12700">
            <a:solidFill>
              <a:srgbClr val="007AFF"/>
            </a:solidFill>
            <a:prstDash val="solid"/>
          </a:ln>
        </p:spPr>
      </p:sp>
      <p:sp>
        <p:nvSpPr>
          <p:cNvPr id="8" name="Text 6"/>
          <p:cNvSpPr/>
          <p:nvPr/>
        </p:nvSpPr>
        <p:spPr>
          <a:xfrm>
            <a:off x="457200" y="5394960"/>
            <a:ext cx="1124712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Questions?</a:t>
            </a:r>
            <a:endParaRPr lang="en-US" sz="3200" dirty="0"/>
          </a:p>
        </p:txBody>
      </p:sp>
      <p:sp>
        <p:nvSpPr>
          <p:cNvPr id="10" name="Shape 7"/>
          <p:cNvSpPr/>
          <p:nvPr/>
        </p:nvSpPr>
        <p:spPr>
          <a:xfrm>
            <a:off x="0" y="6537960"/>
            <a:ext cx="12161520" cy="320040"/>
          </a:xfrm>
          <a:prstGeom prst="rect">
            <a:avLst/>
          </a:prstGeom>
          <a:solidFill>
            <a:srgbClr val="14142B"/>
          </a:solidFill>
          <a:ln w="12700">
            <a:solidFill>
              <a:srgbClr val="14142B"/>
            </a:solidFill>
            <a:prstDash val="solid"/>
          </a:ln>
        </p:spPr>
      </p:sp>
      <p:sp>
        <p:nvSpPr>
          <p:cNvPr id="11" name="Text 8"/>
          <p:cNvSpPr/>
          <p:nvPr/>
        </p:nvSpPr>
        <p:spPr>
          <a:xfrm>
            <a:off x="457200" y="6556248"/>
            <a:ext cx="2743200" cy="274320"/>
          </a:xfrm>
          <a:prstGeom prst="rect">
            <a:avLst/>
          </a:prstGeom>
          <a:noFill/>
          <a:ln/>
        </p:spPr>
        <p:txBody>
          <a:bodyPr wrap="square" lIns="0" tIns="0" rIns="0" bIns="0" rtlCol="0" anchor="ctr"/>
          <a:lstStyle/>
          <a:p>
            <a:pPr indent="0" marL="0">
              <a:buNone/>
            </a:pPr>
            <a:r>
              <a:rPr lang="en-US" sz="1000" b="1" spc="200" kern="0" dirty="0">
                <a:solidFill>
                  <a:srgbClr val="6A6A8A"/>
                </a:solidFill>
                <a:latin typeface="Helvetica" pitchFamily="34" charset="0"/>
                <a:ea typeface="Helvetica" pitchFamily="34" charset="-122"/>
                <a:cs typeface="Helvetica" pitchFamily="34" charset="-120"/>
              </a:rPr>
              <a:t>ASTRION OS</a:t>
            </a:r>
            <a:endParaRPr lang="en-US" sz="1000" dirty="0"/>
          </a:p>
        </p:txBody>
      </p:sp>
      <p:sp>
        <p:nvSpPr>
          <p:cNvPr id="12" name="Text 9"/>
          <p:cNvSpPr/>
          <p:nvPr/>
        </p:nvSpPr>
        <p:spPr>
          <a:xfrm>
            <a:off x="11064240" y="6556248"/>
            <a:ext cx="640080" cy="274320"/>
          </a:xfrm>
          <a:prstGeom prst="rect">
            <a:avLst/>
          </a:prstGeom>
          <a:noFill/>
          <a:ln/>
        </p:spPr>
        <p:txBody>
          <a:bodyPr wrap="square" lIns="0" tIns="0" rIns="0" bIns="0" rtlCol="0" anchor="ctr"/>
          <a:lstStyle/>
          <a:p>
            <a:pPr algn="r" indent="0" marL="0">
              <a:buNone/>
            </a:pPr>
            <a:r>
              <a:rPr lang="en-US" sz="1000" dirty="0">
                <a:solidFill>
                  <a:srgbClr val="6A6A8A"/>
                </a:solidFill>
                <a:latin typeface="Helvetica" pitchFamily="34" charset="0"/>
                <a:ea typeface="Helvetica" pitchFamily="34" charset="-122"/>
                <a:cs typeface="Helvetica" pitchFamily="34" charset="-120"/>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Astrion OS — Team Presentation</dc:title>
  <dc:subject>12-minute talk to 3 non-coding friends</dc:subject>
  <dc:creator>Viraaj Singh Bindra</dc:creator>
  <cp:lastModifiedBy>Viraaj Singh Bindra</cp:lastModifiedBy>
  <cp:revision>1</cp:revision>
  <dcterms:created xsi:type="dcterms:W3CDTF">2026-04-11T04:07:27Z</dcterms:created>
  <dcterms:modified xsi:type="dcterms:W3CDTF">2026-04-11T04:07:27Z</dcterms:modified>
</cp:coreProperties>
</file>