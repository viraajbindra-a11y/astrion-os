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YOU START</a:t>
            </a:r>
          </a:p>
          <a:p/>
          <a:p>
            <a:r>
              <a:t>"Keep an eye on the clock — Koa has to leave at the 30 minute mark. Don’t lose him in the middle of a sentence."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THEY REMEMBER ONE LINE</a:t>
            </a:r>
          </a:p>
          <a:p/>
          <a:p>
            <a:r>
              <a:t>"It’s a real operating system, built from nothing, and the AI inside it can’t phone home — because there’s no internet in it to phone home with."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STRAIGHT ABOUT THIS</a:t>
            </a:r>
          </a:p>
          <a:p/>
          <a:p>
            <a:r>
              <a:t>"The AI does real jobs — write a file, read it back, tell me what’s running. Ask it to chat and it talks nonsense. I say that out loud instead of pretending, and that honesty is the whole pitch."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IT LIVE</a:t>
            </a:r>
          </a:p>
          <a:p/>
          <a:p>
            <a:r>
              <a:t>"Watch — this program deliberately attacks the kernel. It dies, and the clock keeps ticking. (If the live demo dies, switch to the recording. Don’t debug in front of them.)"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WARN THEM NOW, NOT IN AUGUST</a:t>
            </a:r>
          </a:p>
          <a:p/>
          <a:p>
            <a:r>
              <a:t>"August is the month where the screen doesn’t change. No new apps, nothing to show, just plumbing. It’ll look like nothing’s happening — that’s the month that decides whether September has a browser."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THIS OUT LOUD</a:t>
            </a:r>
          </a:p>
          <a:p/>
          <a:p>
            <a:r>
              <a:t>"Nothing you say in this room hurts my feelings. The version where you’re polite and I find out in September is the bad one."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THEN, QUESTIONS — AND IF IT’S SILENT, ASK THIS</a:t>
            </a:r>
          </a:p>
          <a:p/>
          <a:p>
            <a:r>
              <a:t>"What’s the part of this you’d be embarrassed to show someone?"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THIS</a:t>
            </a:r>
          </a:p>
          <a:p/>
          <a:p>
            <a:r>
              <a:t>"Someone who writes clear bug reports is worth more to me right now than another programmer."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THAT COMMAND LOOKS WEIRD — KNOW THIS BEFORE HE ASKS</a:t>
            </a:r>
          </a:p>
          <a:p/>
          <a:p>
            <a:r>
              <a:t>"QEMU doesn’t add itself to PATH on Windows, so just typing qemu-system-x86_64 fails. The full path is why. And the &amp; at the front is PowerShell’s "run this" — you need it because the path has a space in it. Also: he can’t break anything, it’s a pretend computer inside a window."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RULES — THEN HAVE HIM WRITE ONE, HERE, FROM SOMETHING HE JUST SAW</a:t>
            </a:r>
          </a:p>
          <a:p/>
          <a:p>
            <a:r>
              <a:t>"Always send a screenshot. And nothing is too small to report — that letter-eating block looked trivial and turned out to be a real flaw in how the screen redraws."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SAYING</a:t>
            </a:r>
          </a:p>
          <a:p/>
          <a:p>
            <a:r>
              <a:t>"If you’re not sure whether something counts, send it. I’d rather throw out ten non-bugs than miss one."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</a:t>
            </a:r>
          </a:p>
          <a:p/>
          <a:p>
            <a:r>
              <a:t>"I’d rather you tell me it’s bad now than have a stranger tell me in September."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BRING TO THE MEETING</a:t>
            </a:r>
          </a:p>
          <a:p/>
          <a:p>
            <a:r>
              <a:t>"A USB stick with astrion-grub.iso on it · your laptop with Astrion already booted · the demo recording as backup in case the live one dies · something to write bugs down in."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914400"/>
            <a:ext cx="9692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7C88A6"/>
                </a:solidFill>
                <a:latin typeface="Roboto Mono"/>
              </a:rPr>
              <a:t>Astrion</a:t>
            </a:r>
          </a:p>
          <a:p>
            <a:pPr>
              <a:lnSpc>
                <a:spcPct val="102000"/>
              </a:lnSpc>
            </a:pPr>
            <a:r>
              <a:rPr sz="4600" b="1">
                <a:solidFill>
                  <a:srgbClr val="EEF2FB"/>
                </a:solidFill>
                <a:latin typeface="Roboto"/>
              </a:rPr>
              <a:t>Where we are, and
what happens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63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9AA6C0"/>
                </a:solidFill>
                <a:latin typeface="Roboto"/>
              </a:rPr>
              <a:t>One hour. First half is both of you. Second half is Keenan’s onboarding.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794760"/>
            <a:ext cx="7863840" cy="512064"/>
          </a:xfrm>
          <a:prstGeom prst="roundRect">
            <a:avLst>
              <a:gd name="adj" fmla="val 6000"/>
            </a:avLst>
          </a:prstGeom>
          <a:solidFill>
            <a:srgbClr val="1A2038"/>
          </a:solidFill>
          <a:ln w="12700">
            <a:solidFill>
              <a:srgbClr val="252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3922776"/>
            <a:ext cx="749807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A84FF"/>
                </a:solidFill>
                <a:latin typeface="Roboto Mono"/>
              </a:rPr>
              <a:t>0:00     </a:t>
            </a:r>
            <a:r>
              <a:rPr sz="1300">
                <a:solidFill>
                  <a:srgbClr val="9AA6C0"/>
                </a:solidFill>
                <a:latin typeface="Roboto"/>
              </a:rPr>
              <a:t>Part 1 — the project, the plan, what I need from you.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398264"/>
            <a:ext cx="7863840" cy="512064"/>
          </a:xfrm>
          <a:prstGeom prst="roundRect">
            <a:avLst>
              <a:gd name="adj" fmla="val 6000"/>
            </a:avLst>
          </a:prstGeom>
          <a:solidFill>
            <a:srgbClr val="1A2038"/>
          </a:solidFill>
          <a:ln w="1270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4526280"/>
            <a:ext cx="749807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9F0A"/>
                </a:solidFill>
                <a:latin typeface="Roboto Mono"/>
              </a:rPr>
              <a:t>0:30     </a:t>
            </a:r>
            <a:r>
              <a:rPr sz="1300">
                <a:solidFill>
                  <a:srgbClr val="EEF2FB"/>
                </a:solidFill>
                <a:latin typeface="Roboto"/>
              </a:rPr>
              <a:t>Koa heads out. Hard stop — don’t run past this.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001768"/>
            <a:ext cx="7863840" cy="512064"/>
          </a:xfrm>
          <a:prstGeom prst="roundRect">
            <a:avLst>
              <a:gd name="adj" fmla="val 6000"/>
            </a:avLst>
          </a:prstGeom>
          <a:solidFill>
            <a:srgbClr val="1A2038"/>
          </a:solidFill>
          <a:ln w="12700">
            <a:solidFill>
              <a:srgbClr val="252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5129784"/>
            <a:ext cx="749807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A84FF"/>
                </a:solidFill>
                <a:latin typeface="Roboto Mono"/>
              </a:rPr>
              <a:t>0:30     </a:t>
            </a:r>
            <a:r>
              <a:rPr sz="1300">
                <a:solidFill>
                  <a:srgbClr val="9AA6C0"/>
                </a:solidFill>
                <a:latin typeface="Roboto"/>
              </a:rPr>
              <a:t>Part 2 — Keenan, everything to get you started.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605272"/>
            <a:ext cx="7863840" cy="512064"/>
          </a:xfrm>
          <a:prstGeom prst="roundRect">
            <a:avLst>
              <a:gd name="adj" fmla="val 6000"/>
            </a:avLst>
          </a:prstGeom>
          <a:solidFill>
            <a:srgbClr val="1A2038"/>
          </a:solidFill>
          <a:ln w="12700">
            <a:solidFill>
              <a:srgbClr val="252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5733288"/>
            <a:ext cx="749807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A84FF"/>
                </a:solidFill>
                <a:latin typeface="Roboto Mono"/>
              </a:rPr>
              <a:t>1:00     </a:t>
            </a:r>
            <a:r>
              <a:rPr sz="1300">
                <a:solidFill>
                  <a:srgbClr val="9AA6C0"/>
                </a:solidFill>
                <a:latin typeface="Roboto"/>
              </a:rPr>
              <a:t>Done.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468880"/>
            <a:ext cx="1045433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1200" b="1">
                <a:solidFill>
                  <a:srgbClr val="0A84FF"/>
                </a:solidFill>
                <a:latin typeface="Roboto Mono"/>
              </a:rPr>
              <a:t>PART 1  ·  30 MINUTES</a:t>
            </a:r>
          </a:p>
          <a:p>
            <a:pPr algn="ctr"/>
            <a:r>
              <a:rPr sz="4400" b="1">
                <a:solidFill>
                  <a:srgbClr val="EEF2FB"/>
                </a:solidFill>
                <a:latin typeface="Roboto"/>
              </a:rPr>
              <a:t>State of the project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7C88A6"/>
                </a:solidFill>
                <a:latin typeface="Roboto Mono"/>
              </a:rPr>
              <a:t>Koa + Keenan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45433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A84FF"/>
                </a:solidFill>
                <a:latin typeface="Roboto Mono"/>
              </a:rPr>
              <a:t>PART 1</a:t>
            </a:r>
            <a:r>
              <a:rPr sz="1000">
                <a:solidFill>
                  <a:srgbClr val="7C88A6"/>
                </a:solidFill>
                <a:latin typeface="Roboto Mono"/>
              </a:rPr>
              <a:t>    3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454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EEF2FB"/>
                </a:solidFill>
                <a:latin typeface="Roboto"/>
              </a:rPr>
              <a:t>What Astrion actually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18488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9AA6C0"/>
                </a:solidFill>
                <a:latin typeface="Roboto"/>
              </a:rPr>
              <a:t>An operating system I wrote from scratch — not an app that runs on Windows or Mac. The actual thing underneath.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32888"/>
            <a:ext cx="10454335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00">
                <a:solidFill>
                  <a:srgbClr val="7C88A6"/>
                </a:solidFill>
                <a:latin typeface="Roboto"/>
              </a:rPr>
              <a:t>— </a:t>
            </a:r>
            <a:r>
              <a:rPr sz="1500" b="0">
                <a:solidFill>
                  <a:srgbClr val="9AA6C0"/>
                </a:solidFill>
                <a:latin typeface="Roboto"/>
              </a:rPr>
              <a:t>Its own </a:t>
            </a:r>
            <a:r>
              <a:rPr sz="1500" b="1">
                <a:solidFill>
                  <a:srgbClr val="EEF2FB"/>
                </a:solidFill>
                <a:latin typeface="Roboto"/>
              </a:rPr>
              <a:t>desktop, windows and apps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00">
                <a:solidFill>
                  <a:srgbClr val="7C88A6"/>
                </a:solidFill>
                <a:latin typeface="Roboto"/>
              </a:rPr>
              <a:t>— </a:t>
            </a:r>
            <a:r>
              <a:rPr sz="1500" b="0">
                <a:solidFill>
                  <a:srgbClr val="9AA6C0"/>
                </a:solidFill>
                <a:latin typeface="Roboto"/>
              </a:rPr>
              <a:t>An </a:t>
            </a:r>
            <a:r>
              <a:rPr sz="1500" b="1">
                <a:solidFill>
                  <a:srgbClr val="EEF2FB"/>
                </a:solidFill>
                <a:latin typeface="Roboto"/>
              </a:rPr>
              <a:t>AI built in</a:t>
            </a:r>
            <a:r>
              <a:rPr sz="1500" b="0">
                <a:solidFill>
                  <a:srgbClr val="9AA6C0"/>
                </a:solidFill>
                <a:latin typeface="Roboto"/>
              </a:rPr>
              <a:t> that works with no internet at all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00">
                <a:solidFill>
                  <a:srgbClr val="7C88A6"/>
                </a:solidFill>
                <a:latin typeface="Roboto"/>
              </a:rPr>
              <a:t>— </a:t>
            </a:r>
            <a:r>
              <a:rPr sz="1500" b="1">
                <a:solidFill>
                  <a:srgbClr val="EEF2FB"/>
                </a:solidFill>
                <a:latin typeface="Roboto"/>
              </a:rPr>
              <a:t>No Linux underneath it.</a:t>
            </a:r>
            <a:r>
              <a:rPr sz="1500" b="0">
                <a:solidFill>
                  <a:srgbClr val="9AA6C0"/>
                </a:solidFill>
                <a:latin typeface="Roboto"/>
              </a:rPr>
              <a:t> Every other “AI operating system” is a layer sitting on someone else’s OS. This one *is* the 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45433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A84FF"/>
                </a:solidFill>
                <a:latin typeface="Roboto Mono"/>
              </a:rPr>
              <a:t>PART 1</a:t>
            </a:r>
            <a:r>
              <a:rPr sz="1000">
                <a:solidFill>
                  <a:srgbClr val="7C88A6"/>
                </a:solidFill>
                <a:latin typeface="Roboto Mono"/>
              </a:rPr>
              <a:t>    6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454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EEF2FB"/>
                </a:solidFill>
                <a:latin typeface="Roboto"/>
              </a:rPr>
              <a:t>What works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1848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9AA6C0"/>
                </a:solidFill>
                <a:latin typeface="Roboto"/>
              </a:rPr>
              <a:t>Boot it and show them. Don’t read the list out — let them watch it come 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76856"/>
            <a:ext cx="10241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32D74B"/>
                </a:solidFill>
                <a:latin typeface="Roboto Mono"/>
              </a:rPr>
              <a:t>works    </a:t>
            </a:r>
            <a:r>
              <a:rPr sz="1500">
                <a:solidFill>
                  <a:srgbClr val="9AA6C0"/>
                </a:solidFill>
                <a:latin typeface="Roboto"/>
              </a:rPr>
              <a:t>  Desktop with windows you can open, move and close, and a live clock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79192"/>
            <a:ext cx="10241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32D74B"/>
                </a:solidFill>
                <a:latin typeface="Roboto Mono"/>
              </a:rPr>
              <a:t>works    </a:t>
            </a:r>
            <a:r>
              <a:rPr sz="1500">
                <a:solidFill>
                  <a:srgbClr val="9AA6C0"/>
                </a:solidFill>
                <a:latin typeface="Roboto"/>
              </a:rPr>
              <a:t>  Terminal with 46 commands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81528"/>
            <a:ext cx="10241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32D74B"/>
                </a:solidFill>
                <a:latin typeface="Roboto Mono"/>
              </a:rPr>
              <a:t>works    </a:t>
            </a:r>
            <a:r>
              <a:rPr sz="1500">
                <a:solidFill>
                  <a:srgbClr val="9AA6C0"/>
                </a:solidFill>
                <a:latin typeface="Roboto"/>
              </a:rPr>
              <a:t>  Files, Editor, Snake, System 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83864"/>
            <a:ext cx="10241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32D74B"/>
                </a:solidFill>
                <a:latin typeface="Roboto Mono"/>
              </a:rPr>
              <a:t>works    </a:t>
            </a:r>
            <a:r>
              <a:rPr sz="1500">
                <a:solidFill>
                  <a:srgbClr val="9AA6C0"/>
                </a:solidFill>
                <a:latin typeface="Roboto"/>
              </a:rPr>
              <a:t>  Calculator and Settings — landed this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86200"/>
            <a:ext cx="10241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32D74B"/>
                </a:solidFill>
                <a:latin typeface="Roboto Mono"/>
              </a:rPr>
              <a:t>works    </a:t>
            </a:r>
            <a:r>
              <a:rPr sz="1500">
                <a:solidFill>
                  <a:srgbClr val="9AA6C0"/>
                </a:solidFill>
                <a:latin typeface="Roboto"/>
              </a:rPr>
              <a:t>  Assistant that writes and reads real files, offline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88536"/>
            <a:ext cx="10241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32D74B"/>
                </a:solidFill>
                <a:latin typeface="Roboto Mono"/>
              </a:rPr>
              <a:t>works    </a:t>
            </a:r>
            <a:r>
              <a:rPr sz="1500">
                <a:solidFill>
                  <a:srgbClr val="9AA6C0"/>
                </a:solidFill>
                <a:latin typeface="Roboto"/>
              </a:rPr>
              <a:t>  Your files survive a reboot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90872"/>
            <a:ext cx="10241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7C88A6"/>
                </a:solidFill>
                <a:latin typeface="Roboto Mono"/>
              </a:rPr>
              <a:t>not yet  </a:t>
            </a:r>
            <a:r>
              <a:rPr sz="1500">
                <a:solidFill>
                  <a:srgbClr val="7C88A6"/>
                </a:solidFill>
                <a:latin typeface="Roboto"/>
              </a:rPr>
              <a:t>  No internet, no browser, no USB — all three are on the plan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45433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A84FF"/>
                </a:solidFill>
                <a:latin typeface="Roboto Mono"/>
              </a:rPr>
              <a:t>PART 1</a:t>
            </a:r>
            <a:r>
              <a:rPr sz="1000">
                <a:solidFill>
                  <a:srgbClr val="7C88A6"/>
                </a:solidFill>
                <a:latin typeface="Roboto Mono"/>
              </a:rPr>
              <a:t>    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454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EEF2FB"/>
                </a:solidFill>
                <a:latin typeface="Roboto"/>
              </a:rPr>
              <a:t>The big one that just shipped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18488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9AA6C0"/>
                </a:solidFill>
                <a:latin typeface="Roboto"/>
              </a:rPr>
              <a:t>Two programs run at once, both convinced they own the same memory — and neither can see the other’s data. The chip itself enforces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24328"/>
            <a:ext cx="10454335" cy="3593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00">
                <a:solidFill>
                  <a:srgbClr val="7C88A6"/>
                </a:solidFill>
                <a:latin typeface="Roboto"/>
              </a:rPr>
              <a:t>— </a:t>
            </a:r>
            <a:r>
              <a:rPr sz="1500" b="0">
                <a:solidFill>
                  <a:srgbClr val="9AA6C0"/>
                </a:solidFill>
                <a:latin typeface="Roboto"/>
              </a:rPr>
              <a:t>If a program tries to break out, </a:t>
            </a:r>
            <a:r>
              <a:rPr sz="1500" b="1">
                <a:solidFill>
                  <a:srgbClr val="EEF2FB"/>
                </a:solidFill>
                <a:latin typeface="Roboto"/>
              </a:rPr>
              <a:t>the CPU kills that program</a:t>
            </a:r>
            <a:r>
              <a:rPr sz="1500" b="0">
                <a:solidFill>
                  <a:srgbClr val="9AA6C0"/>
                </a:solidFill>
                <a:latin typeface="Roboto"/>
              </a:rPr>
              <a:t> and everything else keeps running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00">
                <a:solidFill>
                  <a:srgbClr val="7C88A6"/>
                </a:solidFill>
                <a:latin typeface="Roboto"/>
              </a:rPr>
              <a:t>— </a:t>
            </a:r>
            <a:r>
              <a:rPr sz="1500" b="0">
                <a:solidFill>
                  <a:srgbClr val="9AA6C0"/>
                </a:solidFill>
                <a:latin typeface="Roboto"/>
              </a:rPr>
              <a:t>Same protection model </a:t>
            </a:r>
            <a:r>
              <a:rPr sz="1500" b="1">
                <a:solidFill>
                  <a:srgbClr val="EEF2FB"/>
                </a:solidFill>
                <a:latin typeface="Roboto"/>
              </a:rPr>
              <a:t>Windows, macOS and Linux</a:t>
            </a:r>
            <a:r>
              <a:rPr sz="1500" b="0">
                <a:solidFill>
                  <a:srgbClr val="9AA6C0"/>
                </a:solidFill>
                <a:latin typeface="Roboto"/>
              </a:rPr>
              <a:t> use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00">
                <a:solidFill>
                  <a:srgbClr val="7C88A6"/>
                </a:solidFill>
                <a:latin typeface="Roboto"/>
              </a:rPr>
              <a:t>— </a:t>
            </a:r>
            <a:r>
              <a:rPr sz="1500" b="0">
                <a:solidFill>
                  <a:srgbClr val="9AA6C0"/>
                </a:solidFill>
                <a:latin typeface="Roboto"/>
              </a:rPr>
              <a:t>Checked twice by </a:t>
            </a:r>
            <a:r>
              <a:rPr sz="1500" b="1">
                <a:solidFill>
                  <a:srgbClr val="EEF2FB"/>
                </a:solidFill>
                <a:latin typeface="Roboto"/>
              </a:rPr>
              <a:t>independent reviewers whose only job was to break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45433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A84FF"/>
                </a:solidFill>
                <a:latin typeface="Roboto Mono"/>
              </a:rPr>
              <a:t>PART 1</a:t>
            </a:r>
            <a:r>
              <a:rPr sz="1000">
                <a:solidFill>
                  <a:srgbClr val="7C88A6"/>
                </a:solidFill>
                <a:latin typeface="Roboto Mono"/>
              </a:rPr>
              <a:t>    6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454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EEF2FB"/>
                </a:solidFill>
                <a:latin typeface="Roboto"/>
              </a:rPr>
              <a:t>The plan to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01368"/>
            <a:ext cx="10454335" cy="4416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700">
                <a:solidFill>
                  <a:srgbClr val="7C88A6"/>
                </a:solidFill>
                <a:latin typeface="Roboto"/>
              </a:rPr>
              <a:t>— </a:t>
            </a:r>
            <a:r>
              <a:rPr sz="1700" b="1">
                <a:solidFill>
                  <a:srgbClr val="EEF2FB"/>
                </a:solidFill>
                <a:latin typeface="Roboto"/>
              </a:rPr>
              <a:t>Now → end of July — apps.</a:t>
            </a:r>
            <a:r>
              <a:rPr sz="1700" b="0">
                <a:solidFill>
                  <a:srgbClr val="9AA6C0"/>
                </a:solidFill>
                <a:latin typeface="Roboto"/>
              </a:rPr>
              <a:t> Make it feel like a computer. Editor, file manager, notes, clock, paint.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700">
                <a:solidFill>
                  <a:srgbClr val="7C88A6"/>
                </a:solidFill>
                <a:latin typeface="Roboto"/>
              </a:rPr>
              <a:t>— </a:t>
            </a:r>
            <a:r>
              <a:rPr sz="1700" b="1">
                <a:solidFill>
                  <a:srgbClr val="EEF2FB"/>
                </a:solidFill>
                <a:latin typeface="Roboto"/>
              </a:rPr>
              <a:t>August — networking.</a:t>
            </a:r>
            <a:r>
              <a:rPr sz="1700" b="0">
                <a:solidFill>
                  <a:srgbClr val="9AA6C0"/>
                </a:solidFill>
                <a:latin typeface="Roboto"/>
              </a:rPr>
              <a:t> Teaching the OS to talk to the internet. Invisible, and nothing after it works without it.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700">
                <a:solidFill>
                  <a:srgbClr val="7C88A6"/>
                </a:solidFill>
                <a:latin typeface="Roboto"/>
              </a:rPr>
              <a:t>— </a:t>
            </a:r>
            <a:r>
              <a:rPr sz="1700" b="1">
                <a:solidFill>
                  <a:srgbClr val="EEF2FB"/>
                </a:solidFill>
                <a:latin typeface="Roboto"/>
              </a:rPr>
              <a:t>September — the browser.</a:t>
            </a:r>
            <a:r>
              <a:rPr sz="1700" b="0">
                <a:solidFill>
                  <a:srgbClr val="9AA6C0"/>
                </a:solidFill>
                <a:latin typeface="Roboto"/>
              </a:rPr>
              <a:t> Load a page, show text and links.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700">
                <a:solidFill>
                  <a:srgbClr val="7C88A6"/>
                </a:solidFill>
                <a:latin typeface="Roboto"/>
              </a:rPr>
              <a:t>— </a:t>
            </a:r>
            <a:r>
              <a:rPr sz="1700" b="1">
                <a:solidFill>
                  <a:srgbClr val="EEF2FB"/>
                </a:solidFill>
                <a:latin typeface="Roboto"/>
              </a:rPr>
              <a:t>End of September — launch.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45433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A84FF"/>
                </a:solidFill>
                <a:latin typeface="Roboto Mono"/>
              </a:rPr>
              <a:t>PART 1</a:t>
            </a:r>
            <a:r>
              <a:rPr sz="1000">
                <a:solidFill>
                  <a:srgbClr val="7C88A6"/>
                </a:solidFill>
                <a:latin typeface="Roboto Mono"/>
              </a:rPr>
              <a:t>    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454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EEF2FB"/>
                </a:solidFill>
                <a:latin typeface="Roboto"/>
              </a:rPr>
              <a:t>What I need from you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01368"/>
            <a:ext cx="10454335" cy="4416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600">
                <a:solidFill>
                  <a:srgbClr val="7C88A6"/>
                </a:solidFill>
                <a:latin typeface="Roboto"/>
              </a:rPr>
              <a:t>— </a:t>
            </a:r>
            <a:r>
              <a:rPr sz="1600" b="1">
                <a:solidFill>
                  <a:srgbClr val="EEF2FB"/>
                </a:solidFill>
                <a:latin typeface="Roboto"/>
              </a:rPr>
              <a:t>Break it.</a:t>
            </a:r>
            <a:r>
              <a:rPr sz="1600" b="0">
                <a:solidFill>
                  <a:srgbClr val="9AA6C0"/>
                </a:solidFill>
                <a:latin typeface="Roboto"/>
              </a:rPr>
              <a:t> Use it like a normal person and tell me everything that felt wrong — not just crashes. “This was confusing” is a real bug.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600">
                <a:solidFill>
                  <a:srgbClr val="7C88A6"/>
                </a:solidFill>
                <a:latin typeface="Roboto"/>
              </a:rPr>
              <a:t>— </a:t>
            </a:r>
            <a:r>
              <a:rPr sz="1600" b="1">
                <a:solidFill>
                  <a:srgbClr val="EEF2FB"/>
                </a:solidFill>
                <a:latin typeface="Roboto"/>
              </a:rPr>
              <a:t>Tell me what’s missing.</a:t>
            </a:r>
            <a:r>
              <a:rPr sz="1600" b="0">
                <a:solidFill>
                  <a:srgbClr val="9AA6C0"/>
                </a:solidFill>
                <a:latin typeface="Roboto"/>
              </a:rPr>
              <a:t> You’ll spot things I’ve stopped being able to see.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600">
                <a:solidFill>
                  <a:srgbClr val="7C88A6"/>
                </a:solidFill>
                <a:latin typeface="Roboto"/>
              </a:rPr>
              <a:t>— </a:t>
            </a:r>
            <a:r>
              <a:rPr sz="1600" b="1">
                <a:solidFill>
                  <a:srgbClr val="EEF2FB"/>
                </a:solidFill>
                <a:latin typeface="Roboto"/>
              </a:rPr>
              <a:t>Be the first audience.</a:t>
            </a:r>
            <a:r>
              <a:rPr sz="1600" b="0">
                <a:solidFill>
                  <a:srgbClr val="9AA6C0"/>
                </a:solidFill>
                <a:latin typeface="Roboto"/>
              </a:rPr>
              <a:t> If the demo doesn’t land with you, it won’t land with strangers in September.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600">
                <a:solidFill>
                  <a:srgbClr val="7C88A6"/>
                </a:solidFill>
                <a:latin typeface="Roboto"/>
              </a:rPr>
              <a:t>— </a:t>
            </a:r>
            <a:r>
              <a:rPr sz="1600" b="1">
                <a:solidFill>
                  <a:srgbClr val="EEF2FB"/>
                </a:solidFill>
                <a:latin typeface="Roboto"/>
              </a:rPr>
              <a:t>Say when it looks bad.</a:t>
            </a:r>
            <a:r>
              <a:rPr sz="1600" b="0">
                <a:solidFill>
                  <a:srgbClr val="9AA6C0"/>
                </a:solidFill>
                <a:latin typeface="Roboto"/>
              </a:rPr>
              <a:t> Ugly is a bug. Better from you than from the internet.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45433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A84FF"/>
                </a:solidFill>
                <a:latin typeface="Roboto Mono"/>
              </a:rPr>
              <a:t>PART 1</a:t>
            </a:r>
            <a:r>
              <a:rPr sz="1000">
                <a:solidFill>
                  <a:srgbClr val="7C88A6"/>
                </a:solidFill>
                <a:latin typeface="Roboto Mono"/>
              </a:rPr>
              <a:t>    5 min</a:t>
            </a:r>
            <a:r>
              <a:rPr sz="1000" b="1">
                <a:solidFill>
                  <a:srgbClr val="64D2FF"/>
                </a:solidFill>
                <a:latin typeface="Roboto Mono"/>
              </a:rPr>
              <a:t>    ← don’t let Koa leave without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454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EEF2FB"/>
                </a:solidFill>
                <a:latin typeface="Roboto"/>
              </a:rPr>
              <a:t>Koa — before you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18488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9AA6C0"/>
                </a:solidFill>
                <a:latin typeface="Roboto"/>
              </a:rPr>
              <a:t>Pick one lane. Not all of them, not “whatever you need” — one, out loud, before you walk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395728"/>
            <a:ext cx="5029200" cy="960120"/>
          </a:xfrm>
          <a:prstGeom prst="roundRect">
            <a:avLst>
              <a:gd name="adj" fmla="val 6000"/>
            </a:avLst>
          </a:prstGeom>
          <a:solidFill>
            <a:srgbClr val="1A2038"/>
          </a:solidFill>
          <a:ln w="12700">
            <a:solidFill>
              <a:srgbClr val="252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2560320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>
                <a:solidFill>
                  <a:srgbClr val="EEF2FB"/>
                </a:solidFill>
                <a:latin typeface="Roboto"/>
              </a:rPr>
              <a:t>Tester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AA6C0"/>
                </a:solidFill>
                <a:latin typeface="Roboto"/>
              </a:rPr>
              <a:t>Boot every build, try to break it, write it 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395728"/>
            <a:ext cx="5029200" cy="960120"/>
          </a:xfrm>
          <a:prstGeom prst="roundRect">
            <a:avLst>
              <a:gd name="adj" fmla="val 6000"/>
            </a:avLst>
          </a:prstGeom>
          <a:solidFill>
            <a:srgbClr val="1A2038"/>
          </a:solidFill>
          <a:ln w="12700">
            <a:solidFill>
              <a:srgbClr val="252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560320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>
                <a:solidFill>
                  <a:srgbClr val="EEF2FB"/>
                </a:solidFill>
                <a:latin typeface="Roboto"/>
              </a:rPr>
              <a:t>Design eye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AA6C0"/>
                </a:solidFill>
                <a:latin typeface="Roboto"/>
              </a:rPr>
              <a:t>Tell me what looks wrong and why. Spacing, colour, the feel of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584448"/>
            <a:ext cx="5029200" cy="960120"/>
          </a:xfrm>
          <a:prstGeom prst="roundRect">
            <a:avLst>
              <a:gd name="adj" fmla="val 6000"/>
            </a:avLst>
          </a:prstGeom>
          <a:solidFill>
            <a:srgbClr val="1A2038"/>
          </a:solidFill>
          <a:ln w="12700">
            <a:solidFill>
              <a:srgbClr val="252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3749040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>
                <a:solidFill>
                  <a:srgbClr val="EEF2FB"/>
                </a:solidFill>
                <a:latin typeface="Roboto"/>
              </a:rPr>
              <a:t>Words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AA6C0"/>
                </a:solidFill>
                <a:latin typeface="Roboto"/>
              </a:rPr>
              <a:t>The site, the launch post, what the OS says to people.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584448"/>
            <a:ext cx="5029200" cy="960120"/>
          </a:xfrm>
          <a:prstGeom prst="roundRect">
            <a:avLst>
              <a:gd name="adj" fmla="val 6000"/>
            </a:avLst>
          </a:prstGeom>
          <a:solidFill>
            <a:srgbClr val="1A2038"/>
          </a:solidFill>
          <a:ln w="12700">
            <a:solidFill>
              <a:srgbClr val="252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3749040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>
                <a:solidFill>
                  <a:srgbClr val="EEF2FB"/>
                </a:solidFill>
                <a:latin typeface="Roboto"/>
              </a:rPr>
              <a:t>Ideas &amp; demo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AA6C0"/>
                </a:solidFill>
                <a:latin typeface="Roboto"/>
              </a:rPr>
              <a:t>What goes in the launch video, what order, what’s cut.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468880"/>
            <a:ext cx="1045433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1200" b="1">
                <a:solidFill>
                  <a:srgbClr val="FF9F0A"/>
                </a:solidFill>
                <a:latin typeface="Roboto Mono"/>
              </a:rPr>
              <a:t>PART 2  ·  30 MINUTES</a:t>
            </a:r>
          </a:p>
          <a:p>
            <a:pPr algn="ctr"/>
            <a:r>
              <a:rPr sz="4400" b="1">
                <a:solidFill>
                  <a:srgbClr val="EEF2FB"/>
                </a:solidFill>
                <a:latin typeface="Roboto"/>
              </a:rPr>
              <a:t>Getting you started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7C88A6"/>
                </a:solidFill>
                <a:latin typeface="Roboto Mono"/>
              </a:rPr>
              <a:t>Keenan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45433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F9F0A"/>
                </a:solidFill>
                <a:latin typeface="Roboto Mono"/>
              </a:rPr>
              <a:t>PART 2</a:t>
            </a:r>
            <a:r>
              <a:rPr sz="1000">
                <a:solidFill>
                  <a:srgbClr val="7C88A6"/>
                </a:solidFill>
                <a:latin typeface="Roboto Mono"/>
              </a:rPr>
              <a:t>    3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454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EEF2FB"/>
                </a:solidFill>
                <a:latin typeface="Roboto"/>
              </a:rPr>
              <a:t>Your job, in one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18488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9AA6C0"/>
                </a:solidFill>
                <a:latin typeface="Roboto"/>
              </a:rPr>
              <a:t>Use Astrion like a normal person would, and tell me exactly what went wrong when it does.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41448"/>
            <a:ext cx="10454335" cy="3776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600">
                <a:solidFill>
                  <a:srgbClr val="7C88A6"/>
                </a:solidFill>
                <a:latin typeface="Roboto"/>
              </a:rPr>
              <a:t>— </a:t>
            </a:r>
            <a:r>
              <a:rPr sz="1600" b="0">
                <a:solidFill>
                  <a:srgbClr val="9AA6C0"/>
                </a:solidFill>
                <a:latin typeface="Roboto"/>
              </a:rPr>
              <a:t>You </a:t>
            </a:r>
            <a:r>
              <a:rPr sz="1600" b="1">
                <a:solidFill>
                  <a:srgbClr val="EEF2FB"/>
                </a:solidFill>
                <a:latin typeface="Roboto"/>
              </a:rPr>
              <a:t>don’t need to know how any of it works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600">
                <a:solidFill>
                  <a:srgbClr val="7C88A6"/>
                </a:solidFill>
                <a:latin typeface="Roboto"/>
              </a:rPr>
              <a:t>— </a:t>
            </a:r>
            <a:r>
              <a:rPr sz="1600" b="0">
                <a:solidFill>
                  <a:srgbClr val="9AA6C0"/>
                </a:solidFill>
                <a:latin typeface="Roboto"/>
              </a:rPr>
              <a:t>You </a:t>
            </a:r>
            <a:r>
              <a:rPr sz="1600" b="1">
                <a:solidFill>
                  <a:srgbClr val="EEF2FB"/>
                </a:solidFill>
                <a:latin typeface="Roboto"/>
              </a:rPr>
              <a:t>don’t need to write code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600">
                <a:solidFill>
                  <a:srgbClr val="7C88A6"/>
                </a:solidFill>
                <a:latin typeface="Roboto"/>
              </a:rPr>
              <a:t>— </a:t>
            </a:r>
            <a:r>
              <a:rPr sz="1600" b="0">
                <a:solidFill>
                  <a:srgbClr val="9AA6C0"/>
                </a:solidFill>
                <a:latin typeface="Roboto"/>
              </a:rPr>
              <a:t>Not knowing how it works is </a:t>
            </a:r>
            <a:r>
              <a:rPr sz="1600" b="1">
                <a:solidFill>
                  <a:srgbClr val="EEF2FB"/>
                </a:solidFill>
                <a:latin typeface="Roboto"/>
              </a:rPr>
              <a:t>an advantage</a:t>
            </a:r>
            <a:r>
              <a:rPr sz="1600" b="0">
                <a:solidFill>
                  <a:srgbClr val="9AA6C0"/>
                </a:solidFill>
                <a:latin typeface="Roboto"/>
              </a:rPr>
              <a:t> — you’ll trip over things I’ve learned to walk around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45433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F9F0A"/>
                </a:solidFill>
                <a:latin typeface="Roboto Mono"/>
              </a:rPr>
              <a:t>PART 2</a:t>
            </a:r>
            <a:r>
              <a:rPr sz="1000">
                <a:solidFill>
                  <a:srgbClr val="7C88A6"/>
                </a:solidFill>
                <a:latin typeface="Roboto Mono"/>
              </a:rPr>
              <a:t>    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454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EEF2FB"/>
                </a:solidFill>
                <a:latin typeface="Roboto"/>
              </a:rPr>
              <a:t>Words you’ll hear me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64D2FF"/>
                </a:solidFill>
                <a:latin typeface="Roboto Mono"/>
              </a:rPr>
              <a:t>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199" y="1755648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9AA6C0"/>
                </a:solidFill>
                <a:latin typeface="Roboto"/>
              </a:rPr>
              <a:t>The core of the OS — the part I wrote. Everything else sits on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225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64D2FF"/>
                </a:solidFill>
                <a:latin typeface="Roboto Mono"/>
              </a:rPr>
              <a:t>boot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199" y="2322576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9AA6C0"/>
                </a:solidFill>
                <a:latin typeface="Roboto"/>
              </a:rPr>
              <a:t>Starting up: power-on to the desktop appearing.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95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64D2FF"/>
                </a:solidFill>
                <a:latin typeface="Roboto Mono"/>
              </a:rPr>
              <a:t>QEMU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199" y="2889504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9AA6C0"/>
                </a:solidFill>
                <a:latin typeface="Roboto"/>
              </a:rPr>
              <a:t>A program that pretends to be a whole computer, so we can run Astrion without wiping a real 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564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64D2FF"/>
                </a:solidFill>
                <a:latin typeface="Roboto Mono"/>
              </a:rPr>
              <a:t>ISO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199" y="3456432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9AA6C0"/>
                </a:solidFill>
                <a:latin typeface="Roboto"/>
              </a:rPr>
              <a:t>One file holding the entire OS. What you’d put on a USB stick.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2336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64D2FF"/>
                </a:solidFill>
                <a:latin typeface="Roboto Mono"/>
              </a:rP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199" y="402336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9AA6C0"/>
                </a:solidFill>
                <a:latin typeface="Roboto"/>
              </a:rPr>
              <a:t>Turning my code into an ISO. “Build is green” means it worked.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9028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64D2FF"/>
                </a:solidFill>
                <a:latin typeface="Roboto Mono"/>
              </a:rPr>
              <a:t>repro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199" y="4590288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9AA6C0"/>
                </a:solidFill>
                <a:latin typeface="Roboto"/>
              </a:rPr>
              <a:t>The exact steps that make a bug happen again. The most useful thing you can hand 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5721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64D2FF"/>
                </a:solidFill>
                <a:latin typeface="Roboto Mono"/>
              </a:rPr>
              <a:t>regression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199" y="5157216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9AA6C0"/>
                </a:solidFill>
                <a:latin typeface="Roboto"/>
              </a:rPr>
              <a:t>Something that used to work and now doesn’t. Always urgent — say the word and I’ll drop what I’m doing.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45433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F9F0A"/>
                </a:solidFill>
                <a:latin typeface="Roboto Mono"/>
              </a:rPr>
              <a:t>PART 2</a:t>
            </a:r>
            <a:r>
              <a:rPr sz="1000">
                <a:solidFill>
                  <a:srgbClr val="7C88A6"/>
                </a:solidFill>
                <a:latin typeface="Roboto Mono"/>
              </a:rPr>
              <a:t>    6 min</a:t>
            </a:r>
            <a:r>
              <a:rPr sz="1000" b="1">
                <a:solidFill>
                  <a:srgbClr val="64D2FF"/>
                </a:solidFill>
                <a:latin typeface="Roboto Mono"/>
              </a:rPr>
              <a:t>    ← Keenan is on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454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EEF2FB"/>
                </a:solidFill>
                <a:latin typeface="Roboto"/>
              </a:rPr>
              <a:t>Running it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1848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9AA6C0"/>
                </a:solidFill>
                <a:latin typeface="Roboto"/>
              </a:rPr>
              <a:t>Do this together, on his laptop, in the room. Bring the ISO on a USB stick — it’s 9 MB and that beats waiting on a download.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76856"/>
            <a:ext cx="10454335" cy="3941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400">
                <a:solidFill>
                  <a:srgbClr val="7C88A6"/>
                </a:solidFill>
                <a:latin typeface="Roboto"/>
              </a:rPr>
              <a:t>— </a:t>
            </a:r>
            <a:r>
              <a:rPr sz="1400" b="0">
                <a:solidFill>
                  <a:srgbClr val="9AA6C0"/>
                </a:solidFill>
                <a:latin typeface="Roboto"/>
              </a:rPr>
              <a:t>Get QEMU from </a:t>
            </a:r>
            <a:r>
              <a:rPr sz="1400" b="1">
                <a:solidFill>
                  <a:srgbClr val="EEF2FB"/>
                </a:solidFill>
                <a:latin typeface="Roboto"/>
              </a:rPr>
              <a:t>qemu.org/download</a:t>
            </a:r>
            <a:r>
              <a:rPr sz="1400" b="0">
                <a:solidFill>
                  <a:srgbClr val="9AA6C0"/>
                </a:solidFill>
                <a:latin typeface="Roboto"/>
              </a:rPr>
              <a:t> → Windows → the 64-bit installer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400">
                <a:solidFill>
                  <a:srgbClr val="7C88A6"/>
                </a:solidFill>
                <a:latin typeface="Roboto"/>
              </a:rPr>
              <a:t>— </a:t>
            </a:r>
            <a:r>
              <a:rPr sz="1400" b="0">
                <a:solidFill>
                  <a:srgbClr val="9AA6C0"/>
                </a:solidFill>
                <a:latin typeface="Roboto"/>
              </a:rPr>
              <a:t>Install it. </a:t>
            </a:r>
            <a:r>
              <a:rPr sz="1400" b="1">
                <a:solidFill>
                  <a:srgbClr val="EEF2FB"/>
                </a:solidFill>
                <a:latin typeface="Roboto"/>
              </a:rPr>
              <a:t>Windows will say “unknown publisher”</a:t>
            </a:r>
            <a:r>
              <a:rPr sz="1400" b="0">
                <a:solidFill>
                  <a:srgbClr val="9AA6C0"/>
                </a:solidFill>
                <a:latin typeface="Roboto"/>
              </a:rPr>
              <a:t> → More info → Run anyway. Normal, not a virus.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400">
                <a:solidFill>
                  <a:srgbClr val="7C88A6"/>
                </a:solidFill>
                <a:latin typeface="Roboto"/>
              </a:rPr>
              <a:t>— </a:t>
            </a:r>
            <a:r>
              <a:rPr sz="1400" b="0">
                <a:solidFill>
                  <a:srgbClr val="9AA6C0"/>
                </a:solidFill>
                <a:latin typeface="Roboto"/>
              </a:rPr>
              <a:t>Copy </a:t>
            </a:r>
            <a:r>
              <a:rPr sz="1400" b="1">
                <a:solidFill>
                  <a:srgbClr val="EEF2FB"/>
                </a:solidFill>
                <a:latin typeface="Roboto"/>
              </a:rPr>
              <a:t>astrion-grub.iso</a:t>
            </a:r>
            <a:r>
              <a:rPr sz="1400" b="0">
                <a:solidFill>
                  <a:srgbClr val="9AA6C0"/>
                </a:solidFill>
                <a:latin typeface="Roboto"/>
              </a:rPr>
              <a:t> off the USB stick into a folder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400">
                <a:solidFill>
                  <a:srgbClr val="7C88A6"/>
                </a:solidFill>
                <a:latin typeface="Roboto"/>
              </a:rPr>
              <a:t>— </a:t>
            </a:r>
            <a:r>
              <a:rPr sz="1400" b="0">
                <a:solidFill>
                  <a:srgbClr val="9AA6C0"/>
                </a:solidFill>
                <a:latin typeface="Roboto"/>
              </a:rPr>
              <a:t>Right-click that folder → </a:t>
            </a:r>
            <a:r>
              <a:rPr sz="1400" b="1">
                <a:solidFill>
                  <a:srgbClr val="EEF2FB"/>
                </a:solidFill>
                <a:latin typeface="Roboto"/>
              </a:rPr>
              <a:t>Open in Terminal</a:t>
            </a:r>
            <a:r>
              <a:rPr sz="1400" b="0">
                <a:solidFill>
                  <a:srgbClr val="9AA6C0"/>
                </a:solidFill>
                <a:latin typeface="Roboto"/>
              </a:rPr>
              <a:t>, and run: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133088"/>
            <a:ext cx="10424160" cy="548640"/>
          </a:xfrm>
          <a:prstGeom prst="roundRect">
            <a:avLst>
              <a:gd name="adj" fmla="val 6000"/>
            </a:avLst>
          </a:prstGeom>
          <a:solidFill>
            <a:srgbClr val="0E1220"/>
          </a:solidFill>
          <a:ln w="12700">
            <a:solidFill>
              <a:srgbClr val="252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7939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D2FF"/>
                </a:solidFill>
                <a:latin typeface="Roboto Mono"/>
              </a:rPr>
              <a:t>&amp; "C:\Program Files\qemu\qemu-system-x86_64.exe" -cdrom astrion-grub.iso -m 256M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93776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9AA6C0"/>
                </a:solidFill>
                <a:latin typeface="Roboto"/>
              </a:rPr>
              <a:t>Then: type </a:t>
            </a:r>
            <a:r>
              <a:rPr sz="1400" b="1">
                <a:solidFill>
                  <a:srgbClr val="EEF2FB"/>
                </a:solidFill>
                <a:latin typeface="Roboto"/>
              </a:rPr>
              <a:t>help</a:t>
            </a:r>
            <a:r>
              <a:rPr sz="1400" b="0">
                <a:solidFill>
                  <a:srgbClr val="9AA6C0"/>
                </a:solidFill>
                <a:latin typeface="Roboto"/>
              </a:rPr>
              <a:t> in the Terminal · open Files · open Snake · ask the Assistant to write hello to notes.txt · open Files again and watch it appear.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45433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F9F0A"/>
                </a:solidFill>
                <a:latin typeface="Roboto Mono"/>
              </a:rPr>
              <a:t>PART 2</a:t>
            </a:r>
            <a:r>
              <a:rPr sz="1000">
                <a:solidFill>
                  <a:srgbClr val="7C88A6"/>
                </a:solidFill>
                <a:latin typeface="Roboto Mono"/>
              </a:rPr>
              <a:t>    10 min</a:t>
            </a:r>
            <a:r>
              <a:rPr sz="1000" b="1">
                <a:solidFill>
                  <a:srgbClr val="64D2FF"/>
                </a:solidFill>
                <a:latin typeface="Roboto Mono"/>
              </a:rPr>
              <a:t>    ← this is the one that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454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EEF2FB"/>
                </a:solidFill>
                <a:latin typeface="Roboto"/>
              </a:rPr>
              <a:t>How to report a bug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18488"/>
            <a:ext cx="4937760" cy="1417320"/>
          </a:xfrm>
          <a:prstGeom prst="roundRect">
            <a:avLst>
              <a:gd name="adj" fmla="val 6000"/>
            </a:avLst>
          </a:prstGeom>
          <a:solidFill>
            <a:srgbClr val="1A2038"/>
          </a:solidFill>
          <a:ln w="12700">
            <a:solidFill>
              <a:srgbClr val="FF6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1801368"/>
            <a:ext cx="44348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FF6B60"/>
                </a:solidFill>
                <a:latin typeface="Roboto Mono"/>
              </a:rPr>
              <a:t>USELESS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9AA6C0"/>
                </a:solidFill>
                <a:latin typeface="Roboto"/>
              </a:rPr>
              <a:t>“the mouse is broken sometimes”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18488"/>
            <a:ext cx="4937760" cy="1417320"/>
          </a:xfrm>
          <a:prstGeom prst="roundRect">
            <a:avLst>
              <a:gd name="adj" fmla="val 6000"/>
            </a:avLst>
          </a:prstGeom>
          <a:solidFill>
            <a:srgbClr val="1A2038"/>
          </a:solidFill>
          <a:ln w="12700">
            <a:solidFill>
              <a:srgbClr val="32D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801368"/>
            <a:ext cx="44348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32D74B"/>
                </a:solidFill>
                <a:latin typeface="Roboto Mono"/>
              </a:rPr>
              <a:t>USEFUL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AA6C0"/>
                </a:solidFill>
                <a:latin typeface="Roboto"/>
              </a:rPr>
              <a:t>“Boot it. Don’t touch the mouse. Type </a:t>
            </a:r>
            <a:r>
              <a:rPr sz="1300" b="1">
                <a:solidFill>
                  <a:srgbClr val="EEF2FB"/>
                </a:solidFill>
                <a:latin typeface="Roboto"/>
              </a:rPr>
              <a:t>help</a:t>
            </a:r>
            <a:r>
              <a:rPr sz="1300" b="0">
                <a:solidFill>
                  <a:srgbClr val="9AA6C0"/>
                </a:solidFill>
                <a:latin typeface="Roboto"/>
              </a:rPr>
              <a:t> three times. Now move the mouse — a grey block covers the text and eats a letter. Every time.”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1868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9AA6C0"/>
                </a:solidFill>
                <a:latin typeface="Roboto"/>
              </a:rPr>
              <a:t>That second one is a real bug we found and fixed. It got fixed because it was written that way.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67328"/>
            <a:ext cx="10454335" cy="2450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00">
                <a:solidFill>
                  <a:srgbClr val="7C88A6"/>
                </a:solidFill>
                <a:latin typeface="Roboto"/>
              </a:rPr>
              <a:t>— </a:t>
            </a:r>
            <a:r>
              <a:rPr sz="1500" b="1">
                <a:solidFill>
                  <a:srgbClr val="EEF2FB"/>
                </a:solidFill>
                <a:latin typeface="Roboto"/>
              </a:rPr>
              <a:t>What you did</a:t>
            </a:r>
            <a:r>
              <a:rPr sz="1500" b="0">
                <a:solidFill>
                  <a:srgbClr val="9AA6C0"/>
                </a:solidFill>
                <a:latin typeface="Roboto"/>
              </a:rPr>
              <a:t> — exact steps, in order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00">
                <a:solidFill>
                  <a:srgbClr val="7C88A6"/>
                </a:solidFill>
                <a:latin typeface="Roboto"/>
              </a:rPr>
              <a:t>— </a:t>
            </a:r>
            <a:r>
              <a:rPr sz="1500" b="1">
                <a:solidFill>
                  <a:srgbClr val="EEF2FB"/>
                </a:solidFill>
                <a:latin typeface="Roboto"/>
              </a:rPr>
              <a:t>What you expected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00">
                <a:solidFill>
                  <a:srgbClr val="7C88A6"/>
                </a:solidFill>
                <a:latin typeface="Roboto"/>
              </a:rPr>
              <a:t>— </a:t>
            </a:r>
            <a:r>
              <a:rPr sz="1500" b="1">
                <a:solidFill>
                  <a:srgbClr val="EEF2FB"/>
                </a:solidFill>
                <a:latin typeface="Roboto"/>
              </a:rPr>
              <a:t>What actually happened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00">
                <a:solidFill>
                  <a:srgbClr val="7C88A6"/>
                </a:solidFill>
                <a:latin typeface="Roboto"/>
              </a:rPr>
              <a:t>— </a:t>
            </a:r>
            <a:r>
              <a:rPr sz="1500" b="1">
                <a:solidFill>
                  <a:srgbClr val="EEF2FB"/>
                </a:solidFill>
                <a:latin typeface="Roboto"/>
              </a:rPr>
              <a:t>Does it happen again?</a:t>
            </a:r>
            <a:r>
              <a:rPr sz="1500" b="0">
                <a:solidFill>
                  <a:srgbClr val="9AA6C0"/>
                </a:solidFill>
                <a:latin typeface="Roboto"/>
              </a:rPr>
              <a:t> Try three times. “Only once” still counts — just say so.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45433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F9F0A"/>
                </a:solidFill>
                <a:latin typeface="Roboto Mono"/>
              </a:rPr>
              <a:t>PART 2</a:t>
            </a:r>
            <a:r>
              <a:rPr sz="1000">
                <a:solidFill>
                  <a:srgbClr val="7C88A6"/>
                </a:solidFill>
                <a:latin typeface="Roboto Mono"/>
              </a:rPr>
              <a:t>    3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454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EEF2FB"/>
                </a:solidFill>
                <a:latin typeface="Roboto"/>
              </a:rPr>
              <a:t>What is NOT your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01368"/>
            <a:ext cx="10454335" cy="4416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600">
                <a:solidFill>
                  <a:srgbClr val="7C88A6"/>
                </a:solidFill>
                <a:latin typeface="Roboto"/>
              </a:rPr>
              <a:t>— </a:t>
            </a:r>
            <a:r>
              <a:rPr sz="1600" b="1">
                <a:solidFill>
                  <a:srgbClr val="EEF2FB"/>
                </a:solidFill>
                <a:latin typeface="Roboto"/>
              </a:rPr>
              <a:t>No internet or browser</a:t>
            </a:r>
            <a:r>
              <a:rPr sz="1600" b="0">
                <a:solidFill>
                  <a:srgbClr val="9AA6C0"/>
                </a:solidFill>
                <a:latin typeface="Roboto"/>
              </a:rPr>
              <a:t> — known. Being built in August and September.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600">
                <a:solidFill>
                  <a:srgbClr val="7C88A6"/>
                </a:solidFill>
                <a:latin typeface="Roboto"/>
              </a:rPr>
              <a:t>— </a:t>
            </a:r>
            <a:r>
              <a:rPr sz="1600" b="1">
                <a:solidFill>
                  <a:srgbClr val="EEF2FB"/>
                </a:solidFill>
                <a:latin typeface="Roboto"/>
              </a:rPr>
              <a:t>The AI talking nonsense</a:t>
            </a:r>
            <a:r>
              <a:rPr sz="1600" b="0">
                <a:solidFill>
                  <a:srgbClr val="9AA6C0"/>
                </a:solidFill>
                <a:latin typeface="Roboto"/>
              </a:rPr>
              <a:t> when you chat at it — known and deliberate. Only report it if it gets a real command wrong.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600">
                <a:solidFill>
                  <a:srgbClr val="7C88A6"/>
                </a:solidFill>
                <a:latin typeface="Roboto"/>
              </a:rPr>
              <a:t>— </a:t>
            </a:r>
            <a:r>
              <a:rPr sz="1600" b="1">
                <a:solidFill>
                  <a:srgbClr val="EEF2FB"/>
                </a:solidFill>
                <a:latin typeface="Roboto"/>
              </a:rPr>
              <a:t>Occasional slowness</a:t>
            </a:r>
            <a:r>
              <a:rPr sz="1600" b="0">
                <a:solidFill>
                  <a:srgbClr val="9AA6C0"/>
                </a:solidFill>
                <a:latin typeface="Roboto"/>
              </a:rPr>
              <a:t> — it’s a pretend computer running a real OS. Only flag it if something is properly stuck.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600">
                <a:solidFill>
                  <a:srgbClr val="7C88A6"/>
                </a:solidFill>
                <a:latin typeface="Roboto"/>
              </a:rPr>
              <a:t>— </a:t>
            </a:r>
            <a:r>
              <a:rPr sz="1600" b="1">
                <a:solidFill>
                  <a:srgbClr val="EEF2FB"/>
                </a:solidFill>
                <a:latin typeface="Roboto"/>
              </a:rPr>
              <a:t>Fixing anything.</a:t>
            </a:r>
            <a:r>
              <a:rPr sz="1600" b="0">
                <a:solidFill>
                  <a:srgbClr val="9AA6C0"/>
                </a:solidFill>
                <a:latin typeface="Roboto"/>
              </a:rPr>
              <a:t> Finding it is the job. I’ll fix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45433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F9F0A"/>
                </a:solidFill>
                <a:latin typeface="Roboto Mono"/>
              </a:rPr>
              <a:t>PART 2</a:t>
            </a:r>
            <a:r>
              <a:rPr sz="1000">
                <a:solidFill>
                  <a:srgbClr val="7C88A6"/>
                </a:solidFill>
                <a:latin typeface="Roboto Mono"/>
              </a:rPr>
              <a:t>    3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454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EEF2FB"/>
                </a:solidFill>
                <a:latin typeface="Roboto"/>
              </a:rPr>
              <a:t>Why bother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01368"/>
            <a:ext cx="10454335" cy="4416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600">
                <a:solidFill>
                  <a:srgbClr val="7C88A6"/>
                </a:solidFill>
                <a:latin typeface="Roboto"/>
              </a:rPr>
              <a:t>— </a:t>
            </a:r>
            <a:r>
              <a:rPr sz="1600" b="0">
                <a:solidFill>
                  <a:srgbClr val="9AA6C0"/>
                </a:solidFill>
                <a:latin typeface="Roboto"/>
              </a:rPr>
              <a:t>You’d be helping build </a:t>
            </a:r>
            <a:r>
              <a:rPr sz="1600" b="1">
                <a:solidFill>
                  <a:srgbClr val="EEF2FB"/>
                </a:solidFill>
                <a:latin typeface="Roboto"/>
              </a:rPr>
              <a:t>an actual operating system</a:t>
            </a:r>
            <a:r>
              <a:rPr sz="1600" b="0">
                <a:solidFill>
                  <a:srgbClr val="9AA6C0"/>
                </a:solidFill>
                <a:latin typeface="Roboto"/>
              </a:rPr>
              <a:t>. Almost nobody our age has touched one.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600">
                <a:solidFill>
                  <a:srgbClr val="7C88A6"/>
                </a:solidFill>
                <a:latin typeface="Roboto"/>
              </a:rPr>
              <a:t>— </a:t>
            </a:r>
            <a:r>
              <a:rPr sz="1600" b="1">
                <a:solidFill>
                  <a:srgbClr val="EEF2FB"/>
                </a:solidFill>
                <a:latin typeface="Roboto"/>
              </a:rPr>
              <a:t>Your name goes on it.</a:t>
            </a:r>
            <a:r>
              <a:rPr sz="1600" b="0">
                <a:solidFill>
                  <a:srgbClr val="9AA6C0"/>
                </a:solidFill>
                <a:latin typeface="Roboto"/>
              </a:rPr>
              <a:t> When it launches, you helped make it.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600">
                <a:solidFill>
                  <a:srgbClr val="7C88A6"/>
                </a:solidFill>
                <a:latin typeface="Roboto"/>
              </a:rPr>
              <a:t>— </a:t>
            </a:r>
            <a:r>
              <a:rPr sz="1600" b="0">
                <a:solidFill>
                  <a:srgbClr val="9AA6C0"/>
                </a:solidFill>
                <a:latin typeface="Roboto"/>
              </a:rPr>
              <a:t>Finding bugs and writing them up clearly is </a:t>
            </a:r>
            <a:r>
              <a:rPr sz="1600" b="1">
                <a:solidFill>
                  <a:srgbClr val="EEF2FB"/>
                </a:solidFill>
                <a:latin typeface="Roboto"/>
              </a:rPr>
              <a:t>a real skill</a:t>
            </a:r>
            <a:r>
              <a:rPr sz="1600" b="0">
                <a:solidFill>
                  <a:srgbClr val="9AA6C0"/>
                </a:solidFill>
                <a:latin typeface="Roboto"/>
              </a:rPr>
              <a:t> — it’s a whole job at every software company.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600">
                <a:solidFill>
                  <a:srgbClr val="7C88A6"/>
                </a:solidFill>
                <a:latin typeface="Roboto"/>
              </a:rPr>
              <a:t>— </a:t>
            </a:r>
            <a:r>
              <a:rPr sz="1600" b="0">
                <a:solidFill>
                  <a:srgbClr val="9AA6C0"/>
                </a:solidFill>
                <a:latin typeface="Roboto"/>
              </a:rPr>
              <a:t>It’s more fun to be </a:t>
            </a:r>
            <a:r>
              <a:rPr sz="1600" b="1">
                <a:solidFill>
                  <a:srgbClr val="EEF2FB"/>
                </a:solidFill>
                <a:latin typeface="Roboto"/>
              </a:rPr>
              <a:t>part of a thing</a:t>
            </a:r>
            <a:r>
              <a:rPr sz="1600" b="0">
                <a:solidFill>
                  <a:srgbClr val="9AA6C0"/>
                </a:solidFill>
                <a:latin typeface="Roboto"/>
              </a:rPr>
              <a:t> than to watch someone else build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45433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F9F0A"/>
                </a:solidFill>
                <a:latin typeface="Roboto Mono"/>
              </a:rPr>
              <a:t>PART 2</a:t>
            </a:r>
            <a:r>
              <a:rPr sz="1000">
                <a:solidFill>
                  <a:srgbClr val="7C88A6"/>
                </a:solidFill>
                <a:latin typeface="Roboto Mono"/>
              </a:rPr>
              <a:t>    last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454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EEF2FB"/>
                </a:solidFill>
                <a:latin typeface="Roboto"/>
              </a:rPr>
              <a:t>Before anyone leaves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01368"/>
            <a:ext cx="10454335" cy="4416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600">
                <a:solidFill>
                  <a:srgbClr val="7C88A6"/>
                </a:solidFill>
                <a:latin typeface="Roboto"/>
              </a:rPr>
              <a:t>— </a:t>
            </a:r>
            <a:r>
              <a:rPr sz="1600" b="1">
                <a:solidFill>
                  <a:srgbClr val="EEF2FB"/>
                </a:solidFill>
                <a:latin typeface="Roboto"/>
              </a:rPr>
              <a:t>One place for bugs.</a:t>
            </a:r>
            <a:r>
              <a:rPr sz="1600" b="0">
                <a:solidFill>
                  <a:srgbClr val="9AA6C0"/>
                </a:solidFill>
                <a:latin typeface="Roboto"/>
              </a:rPr>
              <a:t> Decide it in the room — texts, one group chat, one note, doesn’t matter which. Four places means lost bugs.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600">
                <a:solidFill>
                  <a:srgbClr val="7C88A6"/>
                </a:solidFill>
                <a:latin typeface="Roboto"/>
              </a:rPr>
              <a:t>— </a:t>
            </a:r>
            <a:r>
              <a:rPr sz="1600" b="1">
                <a:solidFill>
                  <a:srgbClr val="EEF2FB"/>
                </a:solidFill>
                <a:latin typeface="Roboto"/>
              </a:rPr>
              <a:t>Keenan has it running</a:t>
            </a:r>
            <a:r>
              <a:rPr sz="1600" b="0">
                <a:solidFill>
                  <a:srgbClr val="9AA6C0"/>
                </a:solidFill>
                <a:latin typeface="Roboto"/>
              </a:rPr>
              <a:t> on his own laptop already, not on a to-do list.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600">
                <a:solidFill>
                  <a:srgbClr val="7C88A6"/>
                </a:solidFill>
                <a:latin typeface="Roboto"/>
              </a:rPr>
              <a:t>— </a:t>
            </a:r>
            <a:r>
              <a:rPr sz="1600" b="1">
                <a:solidFill>
                  <a:srgbClr val="EEF2FB"/>
                </a:solidFill>
                <a:latin typeface="Roboto"/>
              </a:rPr>
              <a:t>Koa said his lane out loud</a:t>
            </a:r>
            <a:r>
              <a:rPr sz="1600" b="0">
                <a:solidFill>
                  <a:srgbClr val="9AA6C0"/>
                </a:solidFill>
                <a:latin typeface="Roboto"/>
              </a:rPr>
              <a:t> before he left.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600">
                <a:solidFill>
                  <a:srgbClr val="7C88A6"/>
                </a:solidFill>
                <a:latin typeface="Roboto"/>
              </a:rPr>
              <a:t>— </a:t>
            </a:r>
            <a:r>
              <a:rPr sz="1600" b="1">
                <a:solidFill>
                  <a:srgbClr val="EEF2FB"/>
                </a:solidFill>
                <a:latin typeface="Roboto"/>
              </a:rPr>
              <a:t>Both know August looks boring</a:t>
            </a:r>
            <a:r>
              <a:rPr sz="1600" b="0">
                <a:solidFill>
                  <a:srgbClr val="9AA6C0"/>
                </a:solidFill>
                <a:latin typeface="Roboto"/>
              </a:rPr>
              <a:t> and that this is expected.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